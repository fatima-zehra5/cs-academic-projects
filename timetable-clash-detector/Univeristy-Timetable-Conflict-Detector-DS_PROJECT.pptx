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9" r:id="rId3"/>
    <p:sldId id="257" r:id="rId4"/>
    <p:sldId id="278" r:id="rId5"/>
    <p:sldId id="280" r:id="rId6"/>
    <p:sldId id="260" r:id="rId7"/>
    <p:sldId id="258" r:id="rId8"/>
    <p:sldId id="259" r:id="rId9"/>
    <p:sldId id="271" r:id="rId10"/>
    <p:sldId id="273" r:id="rId11"/>
    <p:sldId id="262" r:id="rId12"/>
    <p:sldId id="281" r:id="rId13"/>
    <p:sldId id="282" r:id="rId14"/>
    <p:sldId id="263" r:id="rId15"/>
    <p:sldId id="283" r:id="rId16"/>
    <p:sldId id="284" r:id="rId17"/>
    <p:sldId id="264" r:id="rId18"/>
  </p:sldIdLst>
  <p:sldSz cx="18288000" cy="10287000"/>
  <p:notesSz cx="6858000" cy="9144000"/>
  <p:embeddedFontLst>
    <p:embeddedFont>
      <p:font typeface="Times New Roman" panose="02020603050405020304" pitchFamily="18" charset="0"/>
      <p:regular r:id="rId19"/>
    </p:embeddedFont>
    <p:embeddedFont>
      <p:font typeface="Times New Roman Bold" panose="02020803070505020304" pitchFamily="18" charset="0"/>
      <p:regular r:id="rId20"/>
      <p:bold r:id="rId21"/>
    </p:embeddedFont>
    <p:embeddedFont>
      <p:font typeface="Roboto" panose="020B0604020202020204" charset="0"/>
      <p:regular r:id="rId22"/>
    </p:embeddedFont>
    <p:embeddedFont>
      <p:font typeface="Montserrat Bold" panose="020B0604020202020204" charset="0"/>
      <p:regular r:id="rId23"/>
    </p:embeddedFont>
    <p:embeddedFont>
      <p:font typeface="Calibri Light" panose="020F0302020204030204" pitchFamily="34" charset="0"/>
      <p:regular r:id="rId24"/>
      <p:italic r:id="rId25"/>
    </p:embeddedFont>
    <p:embeddedFont>
      <p:font typeface="Playfair Display Bold" panose="020B0604020202020204" charset="0"/>
      <p:regular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Roboto Slab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2339"/>
    <a:srgbClr val="A0D4FF"/>
    <a:srgbClr val="9ACEFF"/>
    <a:srgbClr val="98CCFF"/>
    <a:srgbClr val="587F94"/>
    <a:srgbClr val="BEF1FA"/>
    <a:srgbClr val="1C2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94" autoAdjust="0"/>
    <p:restoredTop sz="94622" autoAdjust="0"/>
  </p:normalViewPr>
  <p:slideViewPr>
    <p:cSldViewPr>
      <p:cViewPr>
        <p:scale>
          <a:sx n="40" d="100"/>
          <a:sy n="40" d="100"/>
        </p:scale>
        <p:origin x="836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image" Target="../media/image24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EF">
                <a:alpha val="100000"/>
              </a:srgbClr>
            </a:gs>
            <a:gs pos="100000">
              <a:srgbClr val="94C8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43894" y="0"/>
            <a:ext cx="7744106" cy="10287000"/>
          </a:xfrm>
          <a:custGeom>
            <a:avLst/>
            <a:gdLst/>
            <a:ahLst/>
            <a:cxnLst/>
            <a:rect l="l" t="t" r="r" b="b"/>
            <a:pathLst>
              <a:path w="7744106" h="10287000">
                <a:moveTo>
                  <a:pt x="0" y="0"/>
                </a:moveTo>
                <a:lnTo>
                  <a:pt x="7744106" y="0"/>
                </a:lnTo>
                <a:lnTo>
                  <a:pt x="77441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495" b="-649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71475" y="1457325"/>
            <a:ext cx="10172419" cy="4361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72"/>
              </a:lnSpc>
            </a:pPr>
            <a:r>
              <a:rPr lang="en-US" sz="9013" b="1" spc="-90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University Timetable Conflict Detection</a:t>
            </a:r>
          </a:p>
          <a:p>
            <a:pPr algn="l">
              <a:lnSpc>
                <a:spcPts val="8472"/>
              </a:lnSpc>
            </a:pPr>
            <a:endParaRPr lang="en-US" sz="9013" b="1" spc="-90" dirty="0">
              <a:solidFill>
                <a:srgbClr val="000000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71475" y="6331318"/>
            <a:ext cx="780841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Manal Amir &amp; Fatima </a:t>
            </a:r>
            <a:r>
              <a:rPr lang="en-US" sz="30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Zehra</a:t>
            </a:r>
            <a:endParaRPr lang="en-US" sz="30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71475" y="7638925"/>
            <a:ext cx="7164275" cy="157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3"/>
              </a:lnSpc>
              <a:spcBef>
                <a:spcPct val="0"/>
              </a:spcBef>
            </a:pPr>
            <a:r>
              <a:rPr lang="en-US" sz="2995" b="1" dirty="0">
                <a:solidFill>
                  <a:srgbClr val="5B5B5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Discrete Structures</a:t>
            </a:r>
          </a:p>
          <a:p>
            <a:pPr algn="l">
              <a:lnSpc>
                <a:spcPts val="4193"/>
              </a:lnSpc>
              <a:spcBef>
                <a:spcPct val="0"/>
              </a:spcBef>
            </a:pPr>
            <a:r>
              <a:rPr lang="en-US" sz="2995" b="1" dirty="0">
                <a:solidFill>
                  <a:srgbClr val="5B5B5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• Relations &amp; Functions</a:t>
            </a:r>
          </a:p>
          <a:p>
            <a:pPr algn="l">
              <a:lnSpc>
                <a:spcPts val="4193"/>
              </a:lnSpc>
              <a:spcBef>
                <a:spcPct val="0"/>
              </a:spcBef>
            </a:pPr>
            <a:r>
              <a:rPr lang="en-US" sz="2995" b="1" dirty="0">
                <a:solidFill>
                  <a:srgbClr val="5B5B5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• Automated Conflict Detection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1475" y="4650234"/>
            <a:ext cx="8162925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56"/>
              </a:lnSpc>
              <a:spcBef>
                <a:spcPct val="0"/>
              </a:spcBef>
            </a:pPr>
            <a:r>
              <a:rPr lang="en-US" sz="310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A Discrete Structures Project Using Relations </a:t>
            </a:r>
            <a:endParaRPr lang="en-US" sz="3100" b="1" dirty="0" smtClean="0">
              <a:solidFill>
                <a:srgbClr val="000000"/>
              </a:solidFill>
              <a:latin typeface="Times New Roman" panose="02020603050405020304" pitchFamily="18" charset="0"/>
              <a:ea typeface="Montserrat Bold"/>
              <a:cs typeface="Times New Roman" panose="02020603050405020304" pitchFamily="18" charset="0"/>
              <a:sym typeface="Montserrat Bold"/>
            </a:endParaRPr>
          </a:p>
          <a:p>
            <a:pPr>
              <a:lnSpc>
                <a:spcPts val="4256"/>
              </a:lnSpc>
              <a:spcBef>
                <a:spcPct val="0"/>
              </a:spcBef>
            </a:pPr>
            <a:r>
              <a:rPr lang="en-US" sz="3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&amp; </a:t>
            </a:r>
            <a:r>
              <a:rPr lang="en-US" sz="310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Functions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5275" y="6981700"/>
            <a:ext cx="557212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5B5B5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Subject: Discrete Structures (DS)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9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9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9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9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8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9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7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9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EF">
                <a:alpha val="100000"/>
              </a:srgbClr>
            </a:gs>
            <a:gs pos="100000">
              <a:srgbClr val="94C8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/>
          <p:cNvSpPr/>
          <p:nvPr/>
        </p:nvSpPr>
        <p:spPr>
          <a:xfrm>
            <a:off x="9821419" y="0"/>
            <a:ext cx="8466581" cy="10287000"/>
          </a:xfrm>
          <a:custGeom>
            <a:avLst/>
            <a:gdLst/>
            <a:ahLst/>
            <a:cxnLst/>
            <a:rect l="l" t="t" r="r" b="b"/>
            <a:pathLst>
              <a:path w="8466581" h="10287000">
                <a:moveTo>
                  <a:pt x="0" y="0"/>
                </a:moveTo>
                <a:lnTo>
                  <a:pt x="8466581" y="0"/>
                </a:lnTo>
                <a:lnTo>
                  <a:pt x="84665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68" r="-1548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Box 3"/>
          <p:cNvSpPr txBox="1"/>
          <p:nvPr/>
        </p:nvSpPr>
        <p:spPr>
          <a:xfrm>
            <a:off x="381000" y="192683"/>
            <a:ext cx="11353800" cy="5027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55"/>
              </a:lnSpc>
            </a:pPr>
            <a:r>
              <a:rPr lang="en-US" sz="697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Introduction: </a:t>
            </a:r>
          </a:p>
          <a:p>
            <a:pPr>
              <a:lnSpc>
                <a:spcPts val="9755"/>
              </a:lnSpc>
            </a:pPr>
            <a:r>
              <a:rPr lang="en-US" sz="697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The Challenge </a:t>
            </a:r>
            <a:r>
              <a:rPr lang="en-US" sz="6970" b="1" dirty="0" smtClean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of </a:t>
            </a:r>
            <a:r>
              <a:rPr lang="en-US" sz="697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Timetables</a:t>
            </a:r>
          </a:p>
          <a:p>
            <a:pPr>
              <a:lnSpc>
                <a:spcPts val="9755"/>
              </a:lnSpc>
            </a:pPr>
            <a:endParaRPr lang="en-US" sz="6970" b="1" dirty="0">
              <a:solidFill>
                <a:srgbClr val="000000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411480" y="4008953"/>
            <a:ext cx="3682841" cy="1672233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3" name="Shape 2"/>
          <p:cNvSpPr/>
          <p:nvPr/>
        </p:nvSpPr>
        <p:spPr>
          <a:xfrm>
            <a:off x="381000" y="4004667"/>
            <a:ext cx="87629" cy="1676519"/>
          </a:xfrm>
          <a:prstGeom prst="roundRect">
            <a:avLst>
              <a:gd name="adj" fmla="val 76580"/>
            </a:avLst>
          </a:prstGeom>
          <a:solidFill>
            <a:srgbClr val="587F94"/>
          </a:solidFill>
          <a:ln/>
        </p:spPr>
      </p:sp>
      <p:sp>
        <p:nvSpPr>
          <p:cNvPr id="14" name="Text 3"/>
          <p:cNvSpPr/>
          <p:nvPr/>
        </p:nvSpPr>
        <p:spPr>
          <a:xfrm>
            <a:off x="574119" y="4143137"/>
            <a:ext cx="3196591" cy="39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2700" b="1" dirty="0">
                <a:ea typeface="Calibri Light" panose="020F0302020204030204" pitchFamily="34" charset="0"/>
                <a:cs typeface="Calibri Light" panose="020F0302020204030204" pitchFamily="34" charset="0"/>
              </a:rPr>
              <a:t>Timetable</a:t>
            </a:r>
            <a:r>
              <a:rPr lang="en-US" sz="2700" b="1" dirty="0"/>
              <a:t> </a:t>
            </a:r>
            <a:r>
              <a:rPr lang="en-US" sz="2700" b="1" dirty="0">
                <a:ea typeface="Calibri Light" panose="020F0302020204030204" pitchFamily="34" charset="0"/>
                <a:cs typeface="Calibri Light" panose="020F0302020204030204" pitchFamily="34" charset="0"/>
              </a:rPr>
              <a:t>Complexity</a:t>
            </a:r>
            <a:endParaRPr lang="en-US" sz="2700" b="1" dirty="0"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Text 4"/>
          <p:cNvSpPr/>
          <p:nvPr/>
        </p:nvSpPr>
        <p:spPr>
          <a:xfrm>
            <a:off x="609600" y="4537948"/>
            <a:ext cx="3085862" cy="106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timetable scheduling is a complex and critical task.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4705409" y="4457700"/>
            <a:ext cx="3682960" cy="1676519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7" name="Shape 6"/>
          <p:cNvSpPr/>
          <p:nvPr/>
        </p:nvSpPr>
        <p:spPr>
          <a:xfrm>
            <a:off x="4668560" y="4457700"/>
            <a:ext cx="104179" cy="1676519"/>
          </a:xfrm>
          <a:prstGeom prst="roundRect">
            <a:avLst>
              <a:gd name="adj" fmla="val 76580"/>
            </a:avLst>
          </a:prstGeom>
          <a:solidFill>
            <a:srgbClr val="587F94"/>
          </a:solidFill>
          <a:ln/>
        </p:spPr>
      </p:sp>
      <p:sp>
        <p:nvSpPr>
          <p:cNvPr id="18" name="Text 7"/>
          <p:cNvSpPr/>
          <p:nvPr/>
        </p:nvSpPr>
        <p:spPr>
          <a:xfrm>
            <a:off x="4800600" y="4533900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2700" b="1" dirty="0"/>
              <a:t>Manual Limitations</a:t>
            </a:r>
            <a:endParaRPr lang="en-US" sz="2700" b="1" dirty="0"/>
          </a:p>
        </p:txBody>
      </p:sp>
      <p:sp>
        <p:nvSpPr>
          <p:cNvPr id="19" name="Text 8"/>
          <p:cNvSpPr/>
          <p:nvPr/>
        </p:nvSpPr>
        <p:spPr>
          <a:xfrm>
            <a:off x="4800600" y="4914781"/>
            <a:ext cx="3398281" cy="106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scheduling often results in overlapping classes and student inconvenience.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9"/>
          <p:cNvSpPr/>
          <p:nvPr/>
        </p:nvSpPr>
        <p:spPr>
          <a:xfrm>
            <a:off x="411480" y="5985986"/>
            <a:ext cx="3682841" cy="1538843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21" name="Shape 10"/>
          <p:cNvSpPr/>
          <p:nvPr/>
        </p:nvSpPr>
        <p:spPr>
          <a:xfrm>
            <a:off x="381000" y="5985986"/>
            <a:ext cx="87629" cy="1538843"/>
          </a:xfrm>
          <a:prstGeom prst="roundRect">
            <a:avLst>
              <a:gd name="adj" fmla="val 76580"/>
            </a:avLst>
          </a:prstGeom>
          <a:solidFill>
            <a:srgbClr val="587F94"/>
          </a:solidFill>
          <a:ln/>
        </p:spPr>
      </p:sp>
      <p:sp>
        <p:nvSpPr>
          <p:cNvPr id="22" name="Text 11"/>
          <p:cNvSpPr/>
          <p:nvPr/>
        </p:nvSpPr>
        <p:spPr>
          <a:xfrm>
            <a:off x="609600" y="6072782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2700" b="1" dirty="0"/>
              <a:t>Conflict Detection </a:t>
            </a:r>
            <a:endParaRPr lang="en-US" sz="2700" b="1" dirty="0"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642579" y="6429493"/>
            <a:ext cx="3360301" cy="131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250" dirty="0"/>
              <a:t>Detecting timetable conflicts manually is time-consuming and prone to errors.</a:t>
            </a:r>
            <a:endParaRPr lang="en-US" sz="2250" dirty="0"/>
          </a:p>
        </p:txBody>
      </p:sp>
      <p:sp>
        <p:nvSpPr>
          <p:cNvPr id="25" name="Shape 9"/>
          <p:cNvSpPr/>
          <p:nvPr/>
        </p:nvSpPr>
        <p:spPr>
          <a:xfrm>
            <a:off x="4714280" y="6523673"/>
            <a:ext cx="3713321" cy="1890277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26" name="Shape 10"/>
          <p:cNvSpPr/>
          <p:nvPr/>
        </p:nvSpPr>
        <p:spPr>
          <a:xfrm>
            <a:off x="4648200" y="6515100"/>
            <a:ext cx="86440" cy="1898849"/>
          </a:xfrm>
          <a:prstGeom prst="roundRect">
            <a:avLst>
              <a:gd name="adj" fmla="val 76580"/>
            </a:avLst>
          </a:prstGeom>
          <a:solidFill>
            <a:srgbClr val="587F94"/>
          </a:solidFill>
          <a:ln/>
        </p:spPr>
      </p:sp>
      <p:sp>
        <p:nvSpPr>
          <p:cNvPr id="27" name="Text 11"/>
          <p:cNvSpPr/>
          <p:nvPr/>
        </p:nvSpPr>
        <p:spPr>
          <a:xfrm>
            <a:off x="4800600" y="6598722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2700" b="1" dirty="0"/>
              <a:t>Discrete Relations</a:t>
            </a:r>
            <a:endParaRPr lang="en-US" sz="27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4800600" y="6939161"/>
            <a:ext cx="3370420" cy="1476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200" dirty="0"/>
              <a:t>Discrete Structures provides mathematical tools such as relations to solve such </a:t>
            </a:r>
            <a:r>
              <a:rPr lang="en-US" sz="2200" dirty="0" smtClean="0"/>
              <a:t>problems</a:t>
            </a:r>
            <a:r>
              <a:rPr lang="en-US" sz="2200" dirty="0"/>
              <a:t>.</a:t>
            </a:r>
            <a:endParaRPr lang="en-US" sz="2200" dirty="0"/>
          </a:p>
        </p:txBody>
      </p:sp>
      <p:sp>
        <p:nvSpPr>
          <p:cNvPr id="29" name="Shape 9"/>
          <p:cNvSpPr/>
          <p:nvPr/>
        </p:nvSpPr>
        <p:spPr>
          <a:xfrm>
            <a:off x="431959" y="7886700"/>
            <a:ext cx="3682841" cy="1686402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30" name="Shape 10"/>
          <p:cNvSpPr/>
          <p:nvPr/>
        </p:nvSpPr>
        <p:spPr>
          <a:xfrm>
            <a:off x="401479" y="7890986"/>
            <a:ext cx="74770" cy="1694974"/>
          </a:xfrm>
          <a:prstGeom prst="roundRect">
            <a:avLst>
              <a:gd name="adj" fmla="val 76580"/>
            </a:avLst>
          </a:prstGeom>
          <a:solidFill>
            <a:srgbClr val="587F94"/>
          </a:solidFill>
          <a:ln/>
        </p:spPr>
      </p:sp>
      <p:sp>
        <p:nvSpPr>
          <p:cNvPr id="31" name="Text 11"/>
          <p:cNvSpPr/>
          <p:nvPr/>
        </p:nvSpPr>
        <p:spPr>
          <a:xfrm>
            <a:off x="574119" y="8094942"/>
            <a:ext cx="3405901" cy="32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2700" b="1" dirty="0"/>
              <a:t>Automated Scheduling</a:t>
            </a:r>
            <a:endParaRPr lang="en-US" sz="27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609600" y="8389381"/>
            <a:ext cx="3370420" cy="1021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200" dirty="0"/>
              <a:t>This project focuses on automated timetable conflict detection using relations.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18100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76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6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76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26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76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7" grpId="0" animBg="1"/>
      <p:bldP spid="28" grpId="0" animBg="1"/>
      <p:bldP spid="31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EF">
                <a:alpha val="100000"/>
              </a:srgbClr>
            </a:gs>
            <a:gs pos="100000">
              <a:srgbClr val="94C8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/>
        </p:nvSpPr>
        <p:spPr>
          <a:xfrm>
            <a:off x="10390975" y="0"/>
            <a:ext cx="7897025" cy="10287000"/>
          </a:xfrm>
          <a:custGeom>
            <a:avLst/>
            <a:gdLst/>
            <a:ahLst/>
            <a:cxnLst/>
            <a:rect l="l" t="t" r="r" b="b"/>
            <a:pathLst>
              <a:path w="7897025" h="10287000">
                <a:moveTo>
                  <a:pt x="0" y="0"/>
                </a:moveTo>
                <a:lnTo>
                  <a:pt x="7897025" y="0"/>
                </a:lnTo>
                <a:lnTo>
                  <a:pt x="78970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541" b="-18541"/>
            </a:stretch>
          </a:blipFill>
        </p:spPr>
      </p:sp>
      <p:sp>
        <p:nvSpPr>
          <p:cNvPr id="12" name="TextBox 3"/>
          <p:cNvSpPr txBox="1"/>
          <p:nvPr/>
        </p:nvSpPr>
        <p:spPr>
          <a:xfrm>
            <a:off x="560864" y="1028700"/>
            <a:ext cx="5792070" cy="112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9055"/>
              </a:lnSpc>
            </a:pPr>
            <a:r>
              <a:rPr lang="en-US" sz="6965" b="1" spc="-69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Background:</a:t>
            </a:r>
          </a:p>
        </p:txBody>
      </p:sp>
      <p:sp>
        <p:nvSpPr>
          <p:cNvPr id="13" name="TextBox 4"/>
          <p:cNvSpPr txBox="1"/>
          <p:nvPr/>
        </p:nvSpPr>
        <p:spPr>
          <a:xfrm>
            <a:off x="115100" y="8427051"/>
            <a:ext cx="8924620" cy="122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5815" lvl="1" indent="-403225" algn="l">
              <a:lnSpc>
                <a:spcPts val="4855"/>
              </a:lnSpc>
              <a:buFont typeface="Arial" panose="020B0604020202020204"/>
              <a:buChar char="•"/>
            </a:pPr>
            <a:r>
              <a:rPr lang="en-US" sz="3735" spc="-37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This approach allows systematic and accurate conflict detection.</a:t>
            </a:r>
          </a:p>
        </p:txBody>
      </p:sp>
      <p:sp>
        <p:nvSpPr>
          <p:cNvPr id="14" name="TextBox 5"/>
          <p:cNvSpPr txBox="1"/>
          <p:nvPr/>
        </p:nvSpPr>
        <p:spPr>
          <a:xfrm>
            <a:off x="115100" y="2372039"/>
            <a:ext cx="10400500" cy="1228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5180" lvl="1" indent="-402590" algn="l">
              <a:lnSpc>
                <a:spcPts val="4850"/>
              </a:lnSpc>
              <a:buFont typeface="Arial" panose="020B0604020202020204"/>
              <a:buChar char="•"/>
            </a:pPr>
            <a:r>
              <a:rPr lang="en-US" sz="3730" spc="-37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Discrete Structures is a fundamental subject in computer science.</a:t>
            </a:r>
          </a:p>
        </p:txBody>
      </p:sp>
      <p:sp>
        <p:nvSpPr>
          <p:cNvPr id="15" name="TextBox 6"/>
          <p:cNvSpPr txBox="1"/>
          <p:nvPr/>
        </p:nvSpPr>
        <p:spPr>
          <a:xfrm>
            <a:off x="115100" y="3835238"/>
            <a:ext cx="10052645" cy="1228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5180" lvl="1" indent="-402590" algn="l">
              <a:lnSpc>
                <a:spcPts val="4850"/>
              </a:lnSpc>
              <a:buFont typeface="Arial" panose="020B0604020202020204"/>
              <a:buChar char="•"/>
            </a:pPr>
            <a:r>
              <a:rPr lang="en-US" sz="3730" spc="-37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Relations define connections between elements of a set.</a:t>
            </a:r>
          </a:p>
        </p:txBody>
      </p:sp>
      <p:sp>
        <p:nvSpPr>
          <p:cNvPr id="16" name="TextBox 7"/>
          <p:cNvSpPr txBox="1"/>
          <p:nvPr/>
        </p:nvSpPr>
        <p:spPr>
          <a:xfrm>
            <a:off x="115100" y="5302342"/>
            <a:ext cx="9461053" cy="1228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5180" lvl="1" indent="-402590" algn="l">
              <a:lnSpc>
                <a:spcPts val="4850"/>
              </a:lnSpc>
              <a:buFont typeface="Arial" panose="020B0604020202020204"/>
              <a:buChar char="•"/>
            </a:pPr>
            <a:r>
              <a:rPr lang="en-US" sz="3730" spc="-37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 this project, courses are treated as elements of a set.</a:t>
            </a:r>
          </a:p>
        </p:txBody>
      </p:sp>
      <p:sp>
        <p:nvSpPr>
          <p:cNvPr id="17" name="TextBox 8"/>
          <p:cNvSpPr txBox="1"/>
          <p:nvPr/>
        </p:nvSpPr>
        <p:spPr>
          <a:xfrm>
            <a:off x="115100" y="6864697"/>
            <a:ext cx="9144000" cy="1228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5180" lvl="1" indent="-402590" algn="l">
              <a:lnSpc>
                <a:spcPts val="4850"/>
              </a:lnSpc>
              <a:buFont typeface="Arial" panose="020B0604020202020204"/>
              <a:buChar char="•"/>
            </a:pPr>
            <a:r>
              <a:rPr lang="en-US" sz="3730" spc="-37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Time clashes between courses are modeled using a binary relation.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EF">
                <a:alpha val="100000"/>
              </a:srgbClr>
            </a:gs>
            <a:gs pos="100000">
              <a:srgbClr val="94C8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87770" y="0"/>
            <a:ext cx="8300230" cy="10287000"/>
          </a:xfrm>
          <a:custGeom>
            <a:avLst/>
            <a:gdLst/>
            <a:ahLst/>
            <a:cxnLst/>
            <a:rect l="l" t="t" r="r" b="b"/>
            <a:pathLst>
              <a:path w="8300230" h="10287000">
                <a:moveTo>
                  <a:pt x="0" y="0"/>
                </a:moveTo>
                <a:lnTo>
                  <a:pt x="8300230" y="0"/>
                </a:lnTo>
                <a:lnTo>
                  <a:pt x="83002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764" t="-1557" r="-1210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1000" y="785084"/>
            <a:ext cx="11137205" cy="3416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54"/>
              </a:lnSpc>
            </a:pPr>
            <a:r>
              <a:rPr lang="en-US" sz="6965" b="1" u="none" spc="-69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The Problem: Manual Scheduling Headaches</a:t>
            </a:r>
          </a:p>
          <a:p>
            <a:pPr marL="0" lvl="0" indent="0" algn="l">
              <a:lnSpc>
                <a:spcPts val="9054"/>
              </a:lnSpc>
            </a:pPr>
            <a:endParaRPr lang="en-US" sz="6965" b="1" u="none" spc="-69" dirty="0">
              <a:solidFill>
                <a:srgbClr val="000000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72" y="3615762"/>
            <a:ext cx="8868708" cy="1279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4358" lvl="1" indent="-571500">
              <a:lnSpc>
                <a:spcPts val="5224"/>
              </a:lnSpc>
              <a:buFont typeface="Arial" panose="020B0604020202020204" pitchFamily="34" charset="0"/>
              <a:buChar char="•"/>
            </a:pPr>
            <a:r>
              <a:rPr lang="en-US" sz="373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</a:t>
            </a:r>
            <a:r>
              <a:rPr lang="en-US" sz="3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timetables are often created </a:t>
            </a:r>
            <a:r>
              <a:rPr lang="en-US" sz="373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manually</a:t>
            </a:r>
            <a:r>
              <a:rPr lang="en-US" sz="3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73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" y="4991100"/>
            <a:ext cx="8547188" cy="1279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4153" lvl="1" indent="-571500">
              <a:lnSpc>
                <a:spcPts val="5221"/>
              </a:lnSpc>
              <a:buFont typeface="Arial" panose="020B0604020202020204" pitchFamily="34" charset="0"/>
              <a:buChar char="•"/>
            </a:pPr>
            <a:r>
              <a:rPr lang="en-US" sz="373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</a:t>
            </a:r>
            <a:r>
              <a:rPr lang="en-US" sz="3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leads to frequent </a:t>
            </a:r>
            <a:r>
              <a:rPr lang="en-US" sz="373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sz="3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clashes.</a:t>
            </a:r>
            <a:endParaRPr lang="en-US" sz="373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0" y="6373184"/>
            <a:ext cx="8869679" cy="1279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4153" lvl="1" indent="-571500">
              <a:lnSpc>
                <a:spcPts val="5221"/>
              </a:lnSpc>
              <a:buFont typeface="Arial" panose="020B0604020202020204" pitchFamily="34" charset="0"/>
              <a:buChar char="•"/>
            </a:pPr>
            <a:r>
              <a:rPr lang="en-US" sz="373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</a:t>
            </a:r>
            <a:r>
              <a:rPr lang="en-US" sz="3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conflicts becomes difficult as the number of courses increases.</a:t>
            </a:r>
            <a:endParaRPr lang="en-US" sz="373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7658100"/>
            <a:ext cx="9372600" cy="1240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3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sz="3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need for an automated system to detect and analyze timetable conflicts.</a:t>
            </a:r>
          </a:p>
        </p:txBody>
      </p:sp>
    </p:spTree>
    <p:extLst>
      <p:ext uri="{BB962C8B-B14F-4D97-AF65-F5344CB8AC3E}">
        <p14:creationId xmlns:p14="http://schemas.microsoft.com/office/powerpoint/2010/main" val="1401301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EF">
                <a:alpha val="100000"/>
              </a:srgbClr>
            </a:gs>
            <a:gs pos="100000">
              <a:srgbClr val="94C8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0596976" y="-38100"/>
            <a:ext cx="7666961" cy="10324759"/>
          </a:xfrm>
          <a:custGeom>
            <a:avLst/>
            <a:gdLst/>
            <a:ahLst/>
            <a:cxnLst/>
            <a:rect l="l" t="t" r="r" b="b"/>
            <a:pathLst>
              <a:path w="7666961" h="10287000">
                <a:moveTo>
                  <a:pt x="0" y="0"/>
                </a:moveTo>
                <a:lnTo>
                  <a:pt x="7666961" y="0"/>
                </a:lnTo>
                <a:lnTo>
                  <a:pt x="76669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45" b="-16545"/>
            </a:stretch>
          </a:blipFill>
        </p:spPr>
      </p:sp>
      <p:sp>
        <p:nvSpPr>
          <p:cNvPr id="9" name="TextBox 3"/>
          <p:cNvSpPr txBox="1"/>
          <p:nvPr/>
        </p:nvSpPr>
        <p:spPr>
          <a:xfrm>
            <a:off x="0" y="571500"/>
            <a:ext cx="10621039" cy="358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9520"/>
              </a:lnSpc>
            </a:pPr>
            <a:r>
              <a:rPr lang="en-US" sz="68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Objectives for Optimizing Course Scheduling</a:t>
            </a:r>
          </a:p>
          <a:p>
            <a:pPr algn="ctr">
              <a:lnSpc>
                <a:spcPts val="9520"/>
              </a:lnSpc>
              <a:spcBef>
                <a:spcPct val="0"/>
              </a:spcBef>
            </a:pPr>
            <a:endParaRPr dirty="0"/>
          </a:p>
        </p:txBody>
      </p:sp>
      <p:grpSp>
        <p:nvGrpSpPr>
          <p:cNvPr id="10" name="Group 9"/>
          <p:cNvGrpSpPr/>
          <p:nvPr/>
        </p:nvGrpSpPr>
        <p:grpSpPr>
          <a:xfrm>
            <a:off x="615455" y="3294306"/>
            <a:ext cx="791336" cy="776790"/>
            <a:chOff x="0" y="-1545"/>
            <a:chExt cx="812800" cy="797860"/>
          </a:xfrm>
        </p:grpSpPr>
        <p:sp>
          <p:nvSpPr>
            <p:cNvPr id="28" name="Freeform 27"/>
            <p:cNvSpPr/>
            <p:nvPr/>
          </p:nvSpPr>
          <p:spPr>
            <a:xfrm>
              <a:off x="0" y="0"/>
              <a:ext cx="812800" cy="796315"/>
            </a:xfrm>
            <a:custGeom>
              <a:avLst/>
              <a:gdLst/>
              <a:ahLst/>
              <a:cxnLst/>
              <a:rect l="l" t="t" r="r" b="b"/>
              <a:pathLst>
                <a:path w="812800" h="796315">
                  <a:moveTo>
                    <a:pt x="406400" y="0"/>
                  </a:moveTo>
                  <a:cubicBezTo>
                    <a:pt x="181951" y="0"/>
                    <a:pt x="0" y="178261"/>
                    <a:pt x="0" y="398158"/>
                  </a:cubicBezTo>
                  <a:cubicBezTo>
                    <a:pt x="0" y="618054"/>
                    <a:pt x="181951" y="796315"/>
                    <a:pt x="406400" y="796315"/>
                  </a:cubicBezTo>
                  <a:cubicBezTo>
                    <a:pt x="630849" y="796315"/>
                    <a:pt x="812800" y="618054"/>
                    <a:pt x="812800" y="398158"/>
                  </a:cubicBezTo>
                  <a:cubicBezTo>
                    <a:pt x="812800" y="17826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D4B61"/>
              </a:solidFill>
              <a:prstDash val="solid"/>
              <a:miter/>
            </a:ln>
          </p:spPr>
        </p:sp>
        <p:sp>
          <p:nvSpPr>
            <p:cNvPr id="29" name="TextBox 6"/>
            <p:cNvSpPr txBox="1"/>
            <p:nvPr/>
          </p:nvSpPr>
          <p:spPr>
            <a:xfrm>
              <a:off x="76200" y="-1545"/>
              <a:ext cx="660400" cy="723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500"/>
                </a:lnSpc>
              </a:pPr>
              <a:r>
                <a:rPr lang="en-US" sz="2500" b="1">
                  <a:solidFill>
                    <a:srgbClr val="000000"/>
                  </a:solidFill>
                  <a:latin typeface="Telegraf Ultra-Bold" panose="00000900000000000000"/>
                  <a:ea typeface="Telegraf Ultra-Bold" panose="00000900000000000000"/>
                  <a:cs typeface="Telegraf Ultra-Bold" panose="00000900000000000000"/>
                  <a:sym typeface="Telegraf Ultra-Bold" panose="00000900000000000000"/>
                </a:rPr>
                <a:t>01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15455" y="4701124"/>
            <a:ext cx="791336" cy="776790"/>
            <a:chOff x="0" y="-1545"/>
            <a:chExt cx="812800" cy="797860"/>
          </a:xfrm>
        </p:grpSpPr>
        <p:sp>
          <p:nvSpPr>
            <p:cNvPr id="26" name="Freeform 25"/>
            <p:cNvSpPr/>
            <p:nvPr/>
          </p:nvSpPr>
          <p:spPr>
            <a:xfrm>
              <a:off x="0" y="0"/>
              <a:ext cx="812800" cy="796315"/>
            </a:xfrm>
            <a:custGeom>
              <a:avLst/>
              <a:gdLst/>
              <a:ahLst/>
              <a:cxnLst/>
              <a:rect l="l" t="t" r="r" b="b"/>
              <a:pathLst>
                <a:path w="812800" h="796315">
                  <a:moveTo>
                    <a:pt x="406400" y="0"/>
                  </a:moveTo>
                  <a:cubicBezTo>
                    <a:pt x="181951" y="0"/>
                    <a:pt x="0" y="178261"/>
                    <a:pt x="0" y="398158"/>
                  </a:cubicBezTo>
                  <a:cubicBezTo>
                    <a:pt x="0" y="618054"/>
                    <a:pt x="181951" y="796315"/>
                    <a:pt x="406400" y="796315"/>
                  </a:cubicBezTo>
                  <a:cubicBezTo>
                    <a:pt x="630849" y="796315"/>
                    <a:pt x="812800" y="618054"/>
                    <a:pt x="812800" y="398158"/>
                  </a:cubicBezTo>
                  <a:cubicBezTo>
                    <a:pt x="812800" y="17826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D4B61"/>
              </a:solidFill>
              <a:prstDash val="solid"/>
              <a:miter/>
            </a:ln>
          </p:spPr>
        </p:sp>
        <p:sp>
          <p:nvSpPr>
            <p:cNvPr id="27" name="TextBox 9"/>
            <p:cNvSpPr txBox="1"/>
            <p:nvPr/>
          </p:nvSpPr>
          <p:spPr>
            <a:xfrm>
              <a:off x="76200" y="-1545"/>
              <a:ext cx="660400" cy="723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500"/>
                </a:lnSpc>
              </a:pPr>
              <a:r>
                <a:rPr lang="en-US" sz="2500" b="1">
                  <a:solidFill>
                    <a:srgbClr val="000000"/>
                  </a:solidFill>
                  <a:latin typeface="Telegraf Ultra-Bold" panose="00000900000000000000"/>
                  <a:ea typeface="Telegraf Ultra-Bold" panose="00000900000000000000"/>
                  <a:cs typeface="Telegraf Ultra-Bold" panose="00000900000000000000"/>
                  <a:sym typeface="Telegraf Ultra-Bold" panose="00000900000000000000"/>
                </a:rPr>
                <a:t>02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15455" y="6011557"/>
            <a:ext cx="791336" cy="776790"/>
            <a:chOff x="0" y="-1545"/>
            <a:chExt cx="812800" cy="797860"/>
          </a:xfrm>
        </p:grpSpPr>
        <p:sp>
          <p:nvSpPr>
            <p:cNvPr id="24" name="Freeform 23"/>
            <p:cNvSpPr/>
            <p:nvPr/>
          </p:nvSpPr>
          <p:spPr>
            <a:xfrm>
              <a:off x="0" y="0"/>
              <a:ext cx="812800" cy="796315"/>
            </a:xfrm>
            <a:custGeom>
              <a:avLst/>
              <a:gdLst/>
              <a:ahLst/>
              <a:cxnLst/>
              <a:rect l="l" t="t" r="r" b="b"/>
              <a:pathLst>
                <a:path w="812800" h="796315">
                  <a:moveTo>
                    <a:pt x="406400" y="0"/>
                  </a:moveTo>
                  <a:cubicBezTo>
                    <a:pt x="181951" y="0"/>
                    <a:pt x="0" y="178261"/>
                    <a:pt x="0" y="398158"/>
                  </a:cubicBezTo>
                  <a:cubicBezTo>
                    <a:pt x="0" y="618054"/>
                    <a:pt x="181951" y="796315"/>
                    <a:pt x="406400" y="796315"/>
                  </a:cubicBezTo>
                  <a:cubicBezTo>
                    <a:pt x="630849" y="796315"/>
                    <a:pt x="812800" y="618054"/>
                    <a:pt x="812800" y="398158"/>
                  </a:cubicBezTo>
                  <a:cubicBezTo>
                    <a:pt x="812800" y="17826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D4B61"/>
              </a:solidFill>
              <a:prstDash val="solid"/>
              <a:miter/>
            </a:ln>
          </p:spPr>
        </p:sp>
        <p:sp>
          <p:nvSpPr>
            <p:cNvPr id="25" name="TextBox 12"/>
            <p:cNvSpPr txBox="1"/>
            <p:nvPr/>
          </p:nvSpPr>
          <p:spPr>
            <a:xfrm>
              <a:off x="76200" y="-1545"/>
              <a:ext cx="660400" cy="723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500"/>
                </a:lnSpc>
              </a:pPr>
              <a:r>
                <a:rPr lang="en-US" sz="2500" b="1">
                  <a:solidFill>
                    <a:srgbClr val="000000"/>
                  </a:solidFill>
                  <a:latin typeface="Telegraf Ultra-Bold" panose="00000900000000000000"/>
                  <a:ea typeface="Telegraf Ultra-Bold" panose="00000900000000000000"/>
                  <a:cs typeface="Telegraf Ultra-Bold" panose="00000900000000000000"/>
                  <a:sym typeface="Telegraf Ultra-Bold" panose="00000900000000000000"/>
                </a:rPr>
                <a:t>03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15455" y="7351796"/>
            <a:ext cx="791336" cy="776790"/>
            <a:chOff x="0" y="-1545"/>
            <a:chExt cx="812800" cy="797860"/>
          </a:xfrm>
        </p:grpSpPr>
        <p:sp>
          <p:nvSpPr>
            <p:cNvPr id="22" name="Freeform 21"/>
            <p:cNvSpPr/>
            <p:nvPr/>
          </p:nvSpPr>
          <p:spPr>
            <a:xfrm>
              <a:off x="0" y="0"/>
              <a:ext cx="812800" cy="796315"/>
            </a:xfrm>
            <a:custGeom>
              <a:avLst/>
              <a:gdLst/>
              <a:ahLst/>
              <a:cxnLst/>
              <a:rect l="l" t="t" r="r" b="b"/>
              <a:pathLst>
                <a:path w="812800" h="796315">
                  <a:moveTo>
                    <a:pt x="406400" y="0"/>
                  </a:moveTo>
                  <a:cubicBezTo>
                    <a:pt x="181951" y="0"/>
                    <a:pt x="0" y="178261"/>
                    <a:pt x="0" y="398158"/>
                  </a:cubicBezTo>
                  <a:cubicBezTo>
                    <a:pt x="0" y="618054"/>
                    <a:pt x="181951" y="796315"/>
                    <a:pt x="406400" y="796315"/>
                  </a:cubicBezTo>
                  <a:cubicBezTo>
                    <a:pt x="630849" y="796315"/>
                    <a:pt x="812800" y="618054"/>
                    <a:pt x="812800" y="398158"/>
                  </a:cubicBezTo>
                  <a:cubicBezTo>
                    <a:pt x="812800" y="17826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D4B61"/>
              </a:solidFill>
              <a:prstDash val="solid"/>
              <a:miter/>
            </a:ln>
          </p:spPr>
        </p:sp>
        <p:sp>
          <p:nvSpPr>
            <p:cNvPr id="23" name="TextBox 15"/>
            <p:cNvSpPr txBox="1"/>
            <p:nvPr/>
          </p:nvSpPr>
          <p:spPr>
            <a:xfrm>
              <a:off x="76200" y="-1545"/>
              <a:ext cx="660400" cy="723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500"/>
                </a:lnSpc>
              </a:pPr>
              <a:r>
                <a:rPr lang="en-US" sz="2500" b="1">
                  <a:solidFill>
                    <a:srgbClr val="000000"/>
                  </a:solidFill>
                  <a:latin typeface="Telegraf Ultra-Bold" panose="00000900000000000000"/>
                  <a:ea typeface="Telegraf Ultra-Bold" panose="00000900000000000000"/>
                  <a:cs typeface="Telegraf Ultra-Bold" panose="00000900000000000000"/>
                  <a:sym typeface="Telegraf Ultra-Bold" panose="00000900000000000000"/>
                </a:rPr>
                <a:t>04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15455" y="8655557"/>
            <a:ext cx="791336" cy="776790"/>
            <a:chOff x="0" y="-1545"/>
            <a:chExt cx="812800" cy="797860"/>
          </a:xfrm>
        </p:grpSpPr>
        <p:sp>
          <p:nvSpPr>
            <p:cNvPr id="20" name="Freeform 19"/>
            <p:cNvSpPr/>
            <p:nvPr/>
          </p:nvSpPr>
          <p:spPr>
            <a:xfrm>
              <a:off x="0" y="0"/>
              <a:ext cx="812800" cy="796315"/>
            </a:xfrm>
            <a:custGeom>
              <a:avLst/>
              <a:gdLst/>
              <a:ahLst/>
              <a:cxnLst/>
              <a:rect l="l" t="t" r="r" b="b"/>
              <a:pathLst>
                <a:path w="812800" h="796315">
                  <a:moveTo>
                    <a:pt x="406400" y="0"/>
                  </a:moveTo>
                  <a:cubicBezTo>
                    <a:pt x="181951" y="0"/>
                    <a:pt x="0" y="178261"/>
                    <a:pt x="0" y="398158"/>
                  </a:cubicBezTo>
                  <a:cubicBezTo>
                    <a:pt x="0" y="618054"/>
                    <a:pt x="181951" y="796315"/>
                    <a:pt x="406400" y="796315"/>
                  </a:cubicBezTo>
                  <a:cubicBezTo>
                    <a:pt x="630849" y="796315"/>
                    <a:pt x="812800" y="618054"/>
                    <a:pt x="812800" y="398158"/>
                  </a:cubicBezTo>
                  <a:cubicBezTo>
                    <a:pt x="812800" y="17826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D4B61"/>
              </a:solidFill>
              <a:prstDash val="solid"/>
              <a:miter/>
            </a:ln>
          </p:spPr>
        </p:sp>
        <p:sp>
          <p:nvSpPr>
            <p:cNvPr id="21" name="TextBox 18"/>
            <p:cNvSpPr txBox="1"/>
            <p:nvPr/>
          </p:nvSpPr>
          <p:spPr>
            <a:xfrm>
              <a:off x="76200" y="-1545"/>
              <a:ext cx="660400" cy="723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500"/>
                </a:lnSpc>
              </a:pPr>
              <a:r>
                <a:rPr lang="en-US" sz="2500" b="1">
                  <a:solidFill>
                    <a:srgbClr val="000000"/>
                  </a:solidFill>
                  <a:latin typeface="Telegraf Ultra-Bold" panose="00000900000000000000"/>
                  <a:ea typeface="Telegraf Ultra-Bold" panose="00000900000000000000"/>
                  <a:cs typeface="Telegraf Ultra-Bold" panose="00000900000000000000"/>
                  <a:sym typeface="Telegraf Ultra-Bold" panose="00000900000000000000"/>
                </a:rPr>
                <a:t>05</a:t>
              </a:r>
            </a:p>
          </p:txBody>
        </p:sp>
      </p:grpSp>
      <p:sp>
        <p:nvSpPr>
          <p:cNvPr id="15" name="TextBox 19"/>
          <p:cNvSpPr txBox="1"/>
          <p:nvPr/>
        </p:nvSpPr>
        <p:spPr>
          <a:xfrm>
            <a:off x="1855723" y="3210085"/>
            <a:ext cx="7146875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apply Discrete Structures concepts in a real-world problem.</a:t>
            </a:r>
          </a:p>
        </p:txBody>
      </p:sp>
      <p:sp>
        <p:nvSpPr>
          <p:cNvPr id="16" name="TextBox 20"/>
          <p:cNvSpPr txBox="1"/>
          <p:nvPr/>
        </p:nvSpPr>
        <p:spPr>
          <a:xfrm>
            <a:off x="1855723" y="4626428"/>
            <a:ext cx="769838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define a relation between courses based on time overlap.</a:t>
            </a:r>
          </a:p>
        </p:txBody>
      </p:sp>
      <p:sp>
        <p:nvSpPr>
          <p:cNvPr id="17" name="TextBox 21"/>
          <p:cNvSpPr txBox="1"/>
          <p:nvPr/>
        </p:nvSpPr>
        <p:spPr>
          <a:xfrm>
            <a:off x="1855723" y="5927336"/>
            <a:ext cx="8173475" cy="1076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205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detect pairwise and multi-course clashes automatically.</a:t>
            </a:r>
          </a:p>
        </p:txBody>
      </p:sp>
      <p:sp>
        <p:nvSpPr>
          <p:cNvPr id="18" name="TextBox 22"/>
          <p:cNvSpPr txBox="1"/>
          <p:nvPr/>
        </p:nvSpPr>
        <p:spPr>
          <a:xfrm>
            <a:off x="1855723" y="7277100"/>
            <a:ext cx="503976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generate a conflict-free timetable.</a:t>
            </a:r>
          </a:p>
        </p:txBody>
      </p:sp>
      <p:sp>
        <p:nvSpPr>
          <p:cNvPr id="19" name="TextBox 23"/>
          <p:cNvSpPr txBox="1"/>
          <p:nvPr/>
        </p:nvSpPr>
        <p:spPr>
          <a:xfrm>
            <a:off x="1855723" y="8580861"/>
            <a:ext cx="6909594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improve efficiency and accuracy in scheduling.</a:t>
            </a:r>
          </a:p>
        </p:txBody>
      </p:sp>
    </p:spTree>
    <p:extLst>
      <p:ext uri="{BB962C8B-B14F-4D97-AF65-F5344CB8AC3E}">
        <p14:creationId xmlns:p14="http://schemas.microsoft.com/office/powerpoint/2010/main" val="135919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5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6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EF">
                <a:alpha val="100000"/>
              </a:srgbClr>
            </a:gs>
            <a:gs pos="100000">
              <a:srgbClr val="94C8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982548" y="2602699"/>
            <a:ext cx="1544025" cy="1527920"/>
            <a:chOff x="0" y="0"/>
            <a:chExt cx="813937" cy="805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3937" cy="805448"/>
            </a:xfrm>
            <a:custGeom>
              <a:avLst/>
              <a:gdLst/>
              <a:ahLst/>
              <a:cxnLst/>
              <a:rect l="l" t="t" r="r" b="b"/>
              <a:pathLst>
                <a:path w="813937" h="805448">
                  <a:moveTo>
                    <a:pt x="0" y="0"/>
                  </a:moveTo>
                  <a:lnTo>
                    <a:pt x="610737" y="0"/>
                  </a:lnTo>
                  <a:lnTo>
                    <a:pt x="813937" y="402724"/>
                  </a:lnTo>
                  <a:lnTo>
                    <a:pt x="610737" y="805448"/>
                  </a:lnTo>
                  <a:lnTo>
                    <a:pt x="0" y="805448"/>
                  </a:lnTo>
                  <a:lnTo>
                    <a:pt x="203200" y="402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677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77800" y="-47625"/>
              <a:ext cx="559937" cy="8530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982548" y="3909449"/>
            <a:ext cx="1544025" cy="1527920"/>
            <a:chOff x="0" y="0"/>
            <a:chExt cx="813937" cy="8054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3937" cy="805448"/>
            </a:xfrm>
            <a:custGeom>
              <a:avLst/>
              <a:gdLst/>
              <a:ahLst/>
              <a:cxnLst/>
              <a:rect l="l" t="t" r="r" b="b"/>
              <a:pathLst>
                <a:path w="813937" h="805448">
                  <a:moveTo>
                    <a:pt x="0" y="0"/>
                  </a:moveTo>
                  <a:lnTo>
                    <a:pt x="610737" y="0"/>
                  </a:lnTo>
                  <a:lnTo>
                    <a:pt x="813937" y="402724"/>
                  </a:lnTo>
                  <a:lnTo>
                    <a:pt x="610737" y="805448"/>
                  </a:lnTo>
                  <a:lnTo>
                    <a:pt x="0" y="805448"/>
                  </a:lnTo>
                  <a:lnTo>
                    <a:pt x="203200" y="402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677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77800" y="-47625"/>
              <a:ext cx="559937" cy="8530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982548" y="5224554"/>
            <a:ext cx="1544025" cy="1527920"/>
            <a:chOff x="0" y="0"/>
            <a:chExt cx="813937" cy="8054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3937" cy="805448"/>
            </a:xfrm>
            <a:custGeom>
              <a:avLst/>
              <a:gdLst/>
              <a:ahLst/>
              <a:cxnLst/>
              <a:rect l="l" t="t" r="r" b="b"/>
              <a:pathLst>
                <a:path w="813937" h="805448">
                  <a:moveTo>
                    <a:pt x="0" y="0"/>
                  </a:moveTo>
                  <a:lnTo>
                    <a:pt x="610737" y="0"/>
                  </a:lnTo>
                  <a:lnTo>
                    <a:pt x="813937" y="402724"/>
                  </a:lnTo>
                  <a:lnTo>
                    <a:pt x="610737" y="805448"/>
                  </a:lnTo>
                  <a:lnTo>
                    <a:pt x="0" y="805448"/>
                  </a:lnTo>
                  <a:lnTo>
                    <a:pt x="203200" y="402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677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77800" y="-47625"/>
              <a:ext cx="559937" cy="8530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996430" y="6547227"/>
            <a:ext cx="1544025" cy="1527920"/>
            <a:chOff x="0" y="0"/>
            <a:chExt cx="813937" cy="805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3937" cy="805448"/>
            </a:xfrm>
            <a:custGeom>
              <a:avLst/>
              <a:gdLst/>
              <a:ahLst/>
              <a:cxnLst/>
              <a:rect l="l" t="t" r="r" b="b"/>
              <a:pathLst>
                <a:path w="813937" h="805448">
                  <a:moveTo>
                    <a:pt x="0" y="0"/>
                  </a:moveTo>
                  <a:lnTo>
                    <a:pt x="610737" y="0"/>
                  </a:lnTo>
                  <a:lnTo>
                    <a:pt x="813937" y="402724"/>
                  </a:lnTo>
                  <a:lnTo>
                    <a:pt x="610737" y="805448"/>
                  </a:lnTo>
                  <a:lnTo>
                    <a:pt x="0" y="805448"/>
                  </a:lnTo>
                  <a:lnTo>
                    <a:pt x="203200" y="402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677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77800" y="-47625"/>
              <a:ext cx="559937" cy="8530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5400000">
            <a:off x="996430" y="7874727"/>
            <a:ext cx="1544025" cy="1527920"/>
            <a:chOff x="0" y="0"/>
            <a:chExt cx="813937" cy="8054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3937" cy="805448"/>
            </a:xfrm>
            <a:custGeom>
              <a:avLst/>
              <a:gdLst/>
              <a:ahLst/>
              <a:cxnLst/>
              <a:rect l="l" t="t" r="r" b="b"/>
              <a:pathLst>
                <a:path w="813937" h="805448">
                  <a:moveTo>
                    <a:pt x="0" y="0"/>
                  </a:moveTo>
                  <a:lnTo>
                    <a:pt x="610737" y="0"/>
                  </a:lnTo>
                  <a:lnTo>
                    <a:pt x="813937" y="402724"/>
                  </a:lnTo>
                  <a:lnTo>
                    <a:pt x="610737" y="805448"/>
                  </a:lnTo>
                  <a:lnTo>
                    <a:pt x="0" y="805448"/>
                  </a:lnTo>
                  <a:lnTo>
                    <a:pt x="203200" y="402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677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77800" y="-47625"/>
              <a:ext cx="559937" cy="8530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473099" y="3156648"/>
            <a:ext cx="597144" cy="649499"/>
          </a:xfrm>
          <a:custGeom>
            <a:avLst/>
            <a:gdLst/>
            <a:ahLst/>
            <a:cxnLst/>
            <a:rect l="l" t="t" r="r" b="b"/>
            <a:pathLst>
              <a:path w="597144" h="649499">
                <a:moveTo>
                  <a:pt x="0" y="0"/>
                </a:moveTo>
                <a:lnTo>
                  <a:pt x="597144" y="0"/>
                </a:lnTo>
                <a:lnTo>
                  <a:pt x="597144" y="649499"/>
                </a:lnTo>
                <a:lnTo>
                  <a:pt x="0" y="6494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55988" y="4491095"/>
            <a:ext cx="597144" cy="597144"/>
          </a:xfrm>
          <a:custGeom>
            <a:avLst/>
            <a:gdLst/>
            <a:ahLst/>
            <a:cxnLst/>
            <a:rect l="l" t="t" r="r" b="b"/>
            <a:pathLst>
              <a:path w="597144" h="597144">
                <a:moveTo>
                  <a:pt x="0" y="0"/>
                </a:moveTo>
                <a:lnTo>
                  <a:pt x="597144" y="0"/>
                </a:lnTo>
                <a:lnTo>
                  <a:pt x="597144" y="597145"/>
                </a:lnTo>
                <a:lnTo>
                  <a:pt x="0" y="5971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319201" y="5797846"/>
            <a:ext cx="855817" cy="670649"/>
          </a:xfrm>
          <a:custGeom>
            <a:avLst/>
            <a:gdLst/>
            <a:ahLst/>
            <a:cxnLst/>
            <a:rect l="l" t="t" r="r" b="b"/>
            <a:pathLst>
              <a:path w="855817" h="670649">
                <a:moveTo>
                  <a:pt x="0" y="0"/>
                </a:moveTo>
                <a:lnTo>
                  <a:pt x="855817" y="0"/>
                </a:lnTo>
                <a:lnTo>
                  <a:pt x="855817" y="670649"/>
                </a:lnTo>
                <a:lnTo>
                  <a:pt x="0" y="6706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77698" y="7060563"/>
            <a:ext cx="753724" cy="753724"/>
          </a:xfrm>
          <a:custGeom>
            <a:avLst/>
            <a:gdLst/>
            <a:ahLst/>
            <a:cxnLst/>
            <a:rect l="l" t="t" r="r" b="b"/>
            <a:pathLst>
              <a:path w="753724" h="753724">
                <a:moveTo>
                  <a:pt x="0" y="0"/>
                </a:moveTo>
                <a:lnTo>
                  <a:pt x="753724" y="0"/>
                </a:lnTo>
                <a:lnTo>
                  <a:pt x="753724" y="753724"/>
                </a:lnTo>
                <a:lnTo>
                  <a:pt x="0" y="7537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40534" y="8318043"/>
            <a:ext cx="855817" cy="759804"/>
          </a:xfrm>
          <a:custGeom>
            <a:avLst/>
            <a:gdLst/>
            <a:ahLst/>
            <a:cxnLst/>
            <a:rect l="l" t="t" r="r" b="b"/>
            <a:pathLst>
              <a:path w="855817" h="759804">
                <a:moveTo>
                  <a:pt x="0" y="0"/>
                </a:moveTo>
                <a:lnTo>
                  <a:pt x="855817" y="0"/>
                </a:lnTo>
                <a:lnTo>
                  <a:pt x="855817" y="759804"/>
                </a:lnTo>
                <a:lnTo>
                  <a:pt x="0" y="7598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85800" y="1028700"/>
            <a:ext cx="17157551" cy="1144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52"/>
              </a:lnSpc>
              <a:spcBef>
                <a:spcPct val="0"/>
              </a:spcBef>
            </a:pPr>
            <a:r>
              <a:rPr lang="en-US" sz="6966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How the System Works: </a:t>
            </a:r>
            <a:r>
              <a:rPr lang="en-US" sz="6966" b="1" dirty="0" smtClean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 5-Step Process</a:t>
            </a:r>
            <a:endParaRPr lang="en-US" sz="6966" b="1" dirty="0">
              <a:solidFill>
                <a:srgbClr val="000000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919251" y="2653848"/>
            <a:ext cx="3862549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66"/>
              </a:lnSpc>
              <a:spcBef>
                <a:spcPct val="0"/>
              </a:spcBef>
            </a:pPr>
            <a:r>
              <a:rPr lang="en-US" sz="3618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1. </a:t>
            </a:r>
            <a:r>
              <a:rPr lang="en-US" sz="3618" b="1" dirty="0" smtClean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Course Input</a:t>
            </a:r>
            <a:endParaRPr lang="en-US" sz="3618" b="1" dirty="0">
              <a:solidFill>
                <a:srgbClr val="000000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893054" y="3887718"/>
            <a:ext cx="4498026" cy="603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8"/>
              </a:lnSpc>
              <a:spcBef>
                <a:spcPct val="0"/>
              </a:spcBef>
            </a:pPr>
            <a:r>
              <a:rPr lang="en-US" sz="362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2. Build Relation 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185951" y="5238749"/>
            <a:ext cx="3189288" cy="603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8"/>
              </a:lnSpc>
              <a:spcBef>
                <a:spcPct val="0"/>
              </a:spcBef>
            </a:pPr>
            <a:r>
              <a:rPr lang="en-US" sz="362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3. Clash Matrix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52551" y="6554174"/>
            <a:ext cx="5237176" cy="595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68"/>
              </a:lnSpc>
              <a:spcBef>
                <a:spcPct val="0"/>
              </a:spcBef>
            </a:pPr>
            <a:r>
              <a:rPr lang="en-US" sz="362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4. </a:t>
            </a:r>
            <a:r>
              <a:rPr lang="en-US" sz="3620" b="1" dirty="0" smtClean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Overlap Checking</a:t>
            </a:r>
            <a:endParaRPr lang="en-US" sz="3620" b="1" dirty="0">
              <a:solidFill>
                <a:srgbClr val="000000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139816" y="7932481"/>
            <a:ext cx="5165983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68"/>
              </a:lnSpc>
              <a:spcBef>
                <a:spcPct val="0"/>
              </a:spcBef>
            </a:pPr>
            <a:r>
              <a:rPr lang="en-US" sz="3620" b="1" dirty="0" smtClean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5. Timetable Generation</a:t>
            </a:r>
            <a:endParaRPr lang="en-US" sz="3620" b="1" dirty="0">
              <a:solidFill>
                <a:srgbClr val="000000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622527" y="3157161"/>
            <a:ext cx="9239231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enters course names and time slots (24-hour format).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03496" y="4405370"/>
            <a:ext cx="7639031" cy="519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39"/>
              </a:lnSpc>
              <a:spcBef>
                <a:spcPct val="0"/>
              </a:spcBef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 R is defined between courses.</a:t>
            </a:r>
            <a:endParaRPr lang="en-US" sz="30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622526" y="5745438"/>
            <a:ext cx="8036073" cy="506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39"/>
              </a:lnSpc>
              <a:spcBef>
                <a:spcPct val="0"/>
              </a:spcBef>
            </a:pPr>
            <a:r>
              <a:rPr lang="en-US" sz="3099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Displays R as a table (0=safe, 1=clash)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622527" y="7190632"/>
            <a:ext cx="8581033" cy="54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Checks symmetry and detects potential 3-way clashes.</a:t>
            </a:r>
            <a:endParaRPr lang="en-US" sz="30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622527" y="8450133"/>
            <a:ext cx="8523864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Outputs a conflict-free schedule, sorted by start time.</a:t>
            </a:r>
            <a:endParaRPr lang="en-US" sz="30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EF">
                <a:alpha val="100000"/>
              </a:srgbClr>
            </a:gs>
            <a:gs pos="100000">
              <a:srgbClr val="94C8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95983" y="0"/>
            <a:ext cx="7992017" cy="10287000"/>
          </a:xfrm>
          <a:custGeom>
            <a:avLst/>
            <a:gdLst/>
            <a:ahLst/>
            <a:cxnLst/>
            <a:rect l="l" t="t" r="r" b="b"/>
            <a:pathLst>
              <a:path w="7992017" h="10287000">
                <a:moveTo>
                  <a:pt x="0" y="0"/>
                </a:moveTo>
                <a:lnTo>
                  <a:pt x="7992017" y="0"/>
                </a:lnTo>
                <a:lnTo>
                  <a:pt x="799201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5" t="-13062" r="-7284" b="-13062"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303021" y="1591642"/>
            <a:ext cx="9689941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60"/>
              </a:lnSpc>
            </a:pPr>
            <a:r>
              <a:rPr lang="en-US" sz="6970" b="1" spc="-149" dirty="0" smtClean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Model</a:t>
            </a:r>
            <a:r>
              <a:rPr lang="en-US" sz="5965" b="1" spc="-149" dirty="0" smtClean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6970" b="1" spc="-149" dirty="0" smtClean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Architecture</a:t>
            </a:r>
            <a:endParaRPr lang="en-US" sz="6970" b="1" spc="-149" dirty="0">
              <a:solidFill>
                <a:srgbClr val="000000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03021" y="2686043"/>
            <a:ext cx="9689941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system leverages discrete mathematics to efficiently identify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and resolve timetable conflicts.</a:t>
            </a:r>
          </a:p>
        </p:txBody>
      </p:sp>
      <p:sp>
        <p:nvSpPr>
          <p:cNvPr id="5" name="Shape 2"/>
          <p:cNvSpPr/>
          <p:nvPr/>
        </p:nvSpPr>
        <p:spPr>
          <a:xfrm>
            <a:off x="303021" y="3974180"/>
            <a:ext cx="3829764" cy="1931440"/>
          </a:xfrm>
          <a:prstGeom prst="roundRect">
            <a:avLst>
              <a:gd name="adj" fmla="val 6551"/>
            </a:avLst>
          </a:prstGeom>
          <a:solidFill>
            <a:srgbClr val="FBFCF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21" y="3962750"/>
            <a:ext cx="3829764" cy="4752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06580" y="3950732"/>
            <a:ext cx="222647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990600" y="4533900"/>
            <a:ext cx="231981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50"/>
              </a:lnSpc>
            </a:pPr>
            <a:r>
              <a:rPr lang="en-US" sz="2350" b="1" dirty="0">
                <a:latin typeface="Playfair Display Bold" panose="020B0604020202020204" charset="0"/>
              </a:rPr>
              <a:t>Input Module:</a:t>
            </a:r>
            <a:r>
              <a:rPr lang="en-US" sz="2400" dirty="0"/>
              <a:t> </a:t>
            </a:r>
            <a:endParaRPr lang="en-US" sz="2350" dirty="0">
              <a:latin typeface="Playfair Display Bold" panose="020B060402020202020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33399" y="4999196"/>
            <a:ext cx="3413046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en-US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course data and time slots.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318285" y="3974060"/>
            <a:ext cx="3829764" cy="1931440"/>
          </a:xfrm>
          <a:prstGeom prst="roundRect">
            <a:avLst>
              <a:gd name="adj" fmla="val 6551"/>
            </a:avLst>
          </a:prstGeom>
          <a:solidFill>
            <a:srgbClr val="FBFCFE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285" y="3978355"/>
            <a:ext cx="3829764" cy="4793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21843" y="3971456"/>
            <a:ext cx="126557" cy="18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4755244" y="4533901"/>
            <a:ext cx="2864756" cy="28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2350" b="1" dirty="0">
                <a:latin typeface="Playfair Display Bold" panose="020B0604020202020204" charset="0"/>
              </a:rPr>
              <a:t>Processing Module:</a:t>
            </a:r>
            <a:r>
              <a:rPr lang="en-US" sz="2350" dirty="0">
                <a:latin typeface="Playfair Display Bold" panose="020B0604020202020204" charset="0"/>
              </a:rPr>
              <a:t> </a:t>
            </a:r>
            <a:endParaRPr lang="en-US" sz="2350" dirty="0">
              <a:latin typeface="Playfair Display Bold" panose="020B060402020202020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4648200" y="4978352"/>
            <a:ext cx="3048000" cy="774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en-US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relation R and clash matrix</a:t>
            </a:r>
            <a:r>
              <a:rPr lang="en-US" sz="145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304799" y="6466768"/>
            <a:ext cx="3827985" cy="2092110"/>
          </a:xfrm>
          <a:prstGeom prst="roundRect">
            <a:avLst>
              <a:gd name="adj" fmla="val 8007"/>
            </a:avLst>
          </a:prstGeom>
          <a:solidFill>
            <a:srgbClr val="FBFCFE"/>
          </a:solidFill>
          <a:ln/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994" y="6435672"/>
            <a:ext cx="3849789" cy="3842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 flipH="1">
            <a:off x="2106581" y="6393181"/>
            <a:ext cx="2114900" cy="46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750" dirty="0"/>
          </a:p>
        </p:txBody>
      </p:sp>
      <p:sp>
        <p:nvSpPr>
          <p:cNvPr id="19" name="Text 12"/>
          <p:cNvSpPr/>
          <p:nvPr/>
        </p:nvSpPr>
        <p:spPr>
          <a:xfrm>
            <a:off x="282994" y="6895030"/>
            <a:ext cx="3663451" cy="534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250"/>
              </a:lnSpc>
            </a:pPr>
            <a:r>
              <a:rPr lang="en-US" sz="2340" b="1" dirty="0">
                <a:latin typeface="Playfair Display Bold" panose="020B0604020202020204" charset="0"/>
              </a:rPr>
              <a:t>Analysis Module:</a:t>
            </a:r>
            <a:r>
              <a:rPr lang="en-US" sz="2340" dirty="0">
                <a:latin typeface="Playfair Display Bold" panose="020B0604020202020204" charset="0"/>
              </a:rPr>
              <a:t> </a:t>
            </a:r>
            <a:endParaRPr lang="en-US" sz="2340" dirty="0">
              <a:latin typeface="Playfair Display Bold" panose="020B0604020202020204" charset="0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609600" y="7492130"/>
            <a:ext cx="3130050" cy="927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conflicts and </a:t>
            </a:r>
            <a:r>
              <a:rPr lang="en-US" sz="20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checks</a:t>
            </a:r>
          </a:p>
          <a:p>
            <a:pPr algn="ctr">
              <a:lnSpc>
                <a:spcPts val="2300"/>
              </a:lnSpc>
            </a:pPr>
            <a:r>
              <a:rPr lang="en-US" sz="20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lang="en-US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properties.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0"/>
          <p:cNvSpPr/>
          <p:nvPr/>
        </p:nvSpPr>
        <p:spPr>
          <a:xfrm>
            <a:off x="4346728" y="6409609"/>
            <a:ext cx="3681755" cy="2149269"/>
          </a:xfrm>
          <a:prstGeom prst="roundRect">
            <a:avLst>
              <a:gd name="adj" fmla="val 8007"/>
            </a:avLst>
          </a:prstGeom>
          <a:solidFill>
            <a:srgbClr val="FBFCFE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6393773"/>
            <a:ext cx="3701780" cy="369456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 flipH="1">
            <a:off x="6157491" y="6362700"/>
            <a:ext cx="2114900" cy="46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 smtClean="0">
                <a:solidFill>
                  <a:srgbClr val="FFFFFF"/>
                </a:solidFill>
                <a:latin typeface="Roboto Slab" pitchFamily="34" charset="0"/>
                <a:cs typeface="Roboto Slab" pitchFamily="34" charset="-120"/>
              </a:rPr>
              <a:t>4</a:t>
            </a:r>
          </a:p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24" name="Text 12"/>
          <p:cNvSpPr/>
          <p:nvPr/>
        </p:nvSpPr>
        <p:spPr>
          <a:xfrm>
            <a:off x="4333904" y="6895030"/>
            <a:ext cx="3663451" cy="534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250"/>
              </a:lnSpc>
            </a:pPr>
            <a:r>
              <a:rPr lang="en-US" sz="2350" dirty="0">
                <a:latin typeface="Playfair Display Bold" panose="020B0604020202020204" charset="0"/>
              </a:rPr>
              <a:t>Output Module:</a:t>
            </a:r>
            <a:endParaRPr lang="en-US" sz="2350" dirty="0">
              <a:latin typeface="Playfair Display Bold" panose="020B0604020202020204" charset="0"/>
            </a:endParaRPr>
          </a:p>
        </p:txBody>
      </p:sp>
      <p:sp>
        <p:nvSpPr>
          <p:cNvPr id="25" name="Text 13"/>
          <p:cNvSpPr/>
          <p:nvPr/>
        </p:nvSpPr>
        <p:spPr>
          <a:xfrm>
            <a:off x="4880128" y="7461649"/>
            <a:ext cx="2679823" cy="95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2050" dirty="0"/>
              <a:t>Displays conflicts and </a:t>
            </a:r>
            <a:endParaRPr lang="en-US" sz="2050" dirty="0" smtClean="0"/>
          </a:p>
          <a:p>
            <a:pPr algn="ctr">
              <a:lnSpc>
                <a:spcPts val="2300"/>
              </a:lnSpc>
            </a:pPr>
            <a:r>
              <a:rPr lang="en-US" sz="2050" dirty="0" smtClean="0"/>
              <a:t>conflict-free </a:t>
            </a:r>
            <a:r>
              <a:rPr lang="en-US" sz="2050" dirty="0"/>
              <a:t>timetable.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3399" y="9105900"/>
            <a:ext cx="58596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follows a step-by-step modular design.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EF">
                <a:alpha val="100000"/>
              </a:srgbClr>
            </a:gs>
            <a:gs pos="100000">
              <a:srgbClr val="94C8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359115"/>
          </a:xfrm>
          <a:custGeom>
            <a:avLst/>
            <a:gdLst/>
            <a:ahLst/>
            <a:cxnLst/>
            <a:rect l="l" t="t" r="r" b="b"/>
            <a:pathLst>
              <a:path w="18288000" h="1359115">
                <a:moveTo>
                  <a:pt x="0" y="0"/>
                </a:moveTo>
                <a:lnTo>
                  <a:pt x="18288000" y="0"/>
                </a:lnTo>
                <a:lnTo>
                  <a:pt x="18288000" y="1359115"/>
                </a:lnTo>
                <a:lnTo>
                  <a:pt x="0" y="13591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122" t="-44042" r="-10122" b="-8652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0897" y="2965981"/>
            <a:ext cx="9369179" cy="2415644"/>
          </a:xfrm>
          <a:custGeom>
            <a:avLst/>
            <a:gdLst/>
            <a:ahLst/>
            <a:cxnLst/>
            <a:rect l="l" t="t" r="r" b="b"/>
            <a:pathLst>
              <a:path w="9369179" h="2415644">
                <a:moveTo>
                  <a:pt x="0" y="0"/>
                </a:moveTo>
                <a:lnTo>
                  <a:pt x="9369179" y="0"/>
                </a:lnTo>
                <a:lnTo>
                  <a:pt x="9369179" y="2415644"/>
                </a:lnTo>
                <a:lnTo>
                  <a:pt x="0" y="2415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927" r="-32896" b="-2386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80897" y="2965981"/>
            <a:ext cx="9369179" cy="2415644"/>
          </a:xfrm>
          <a:custGeom>
            <a:avLst/>
            <a:gdLst/>
            <a:ahLst/>
            <a:cxnLst/>
            <a:rect l="l" t="t" r="r" b="b"/>
            <a:pathLst>
              <a:path w="9369179" h="2415644">
                <a:moveTo>
                  <a:pt x="0" y="0"/>
                </a:moveTo>
                <a:lnTo>
                  <a:pt x="9369179" y="0"/>
                </a:lnTo>
                <a:lnTo>
                  <a:pt x="9369179" y="2415644"/>
                </a:lnTo>
                <a:lnTo>
                  <a:pt x="0" y="241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062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80897" y="7808153"/>
            <a:ext cx="9369179" cy="1602547"/>
          </a:xfrm>
          <a:custGeom>
            <a:avLst/>
            <a:gdLst/>
            <a:ahLst/>
            <a:cxnLst/>
            <a:rect l="l" t="t" r="r" b="b"/>
            <a:pathLst>
              <a:path w="9369179" h="1319777">
                <a:moveTo>
                  <a:pt x="0" y="0"/>
                </a:moveTo>
                <a:lnTo>
                  <a:pt x="9369179" y="0"/>
                </a:lnTo>
                <a:lnTo>
                  <a:pt x="9369179" y="1319777"/>
                </a:lnTo>
                <a:lnTo>
                  <a:pt x="0" y="1319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668" r="-39232" b="-13514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80897" y="7978395"/>
            <a:ext cx="9369179" cy="1279905"/>
          </a:xfrm>
          <a:custGeom>
            <a:avLst/>
            <a:gdLst/>
            <a:ahLst/>
            <a:cxnLst/>
            <a:rect l="l" t="t" r="r" b="b"/>
            <a:pathLst>
              <a:path w="9369179" h="1279905">
                <a:moveTo>
                  <a:pt x="0" y="0"/>
                </a:moveTo>
                <a:lnTo>
                  <a:pt x="9369179" y="0"/>
                </a:lnTo>
                <a:lnTo>
                  <a:pt x="9369179" y="1279905"/>
                </a:lnTo>
                <a:lnTo>
                  <a:pt x="0" y="1279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4395" b="-1439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277600" y="2965981"/>
            <a:ext cx="6086980" cy="6444719"/>
          </a:xfrm>
          <a:custGeom>
            <a:avLst/>
            <a:gdLst/>
            <a:ahLst/>
            <a:cxnLst/>
            <a:rect l="l" t="t" r="r" b="b"/>
            <a:pathLst>
              <a:path w="6086980" h="6161949">
                <a:moveTo>
                  <a:pt x="0" y="0"/>
                </a:moveTo>
                <a:lnTo>
                  <a:pt x="6086980" y="0"/>
                </a:lnTo>
                <a:lnTo>
                  <a:pt x="6086980" y="6161949"/>
                </a:lnTo>
                <a:lnTo>
                  <a:pt x="0" y="6161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3" r="-693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04259" y="1525290"/>
            <a:ext cx="13879482" cy="1179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73"/>
              </a:lnSpc>
              <a:spcBef>
                <a:spcPct val="0"/>
              </a:spcBef>
            </a:pPr>
            <a:r>
              <a:rPr lang="en-US" sz="6552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Core Concept: What is a Relation?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0897" y="5743575"/>
            <a:ext cx="9330876" cy="160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following courses: MTH101 (9:00 - 11:00), PHY102 (9:00 - 11:00), and CS104 (11:00 - 13:00). The diagram below visually represents the clash relation.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EF">
                <a:alpha val="100000"/>
              </a:srgbClr>
            </a:gs>
            <a:gs pos="100000">
              <a:srgbClr val="94C8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3258368"/>
            <a:ext cx="5500804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57"/>
              </a:lnSpc>
              <a:spcBef>
                <a:spcPct val="0"/>
              </a:spcBef>
            </a:pPr>
            <a:r>
              <a:rPr lang="en-US" sz="6969" b="1" spc="-69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Sample Run: </a:t>
            </a:r>
            <a:r>
              <a:rPr lang="en-US" sz="6969" b="1" spc="-69" dirty="0" smtClean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Invalid Time Entered</a:t>
            </a:r>
            <a:endParaRPr lang="en-US" sz="6969" b="1" spc="-69" dirty="0">
              <a:solidFill>
                <a:srgbClr val="000000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11430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61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EF">
                <a:alpha val="100000"/>
              </a:srgbClr>
            </a:gs>
            <a:gs pos="100000">
              <a:srgbClr val="94C8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3258367"/>
            <a:ext cx="7024804" cy="2401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57"/>
              </a:lnSpc>
              <a:spcBef>
                <a:spcPct val="0"/>
              </a:spcBef>
            </a:pPr>
            <a:r>
              <a:rPr lang="en-US" sz="6969" b="1" spc="-69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Sample </a:t>
            </a:r>
            <a:r>
              <a:rPr lang="en-US" sz="6969" b="1" spc="-69" dirty="0" smtClean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Run: Clashes Detected</a:t>
            </a:r>
            <a:endParaRPr lang="en-US" sz="6969" b="1" spc="-69" dirty="0">
              <a:solidFill>
                <a:srgbClr val="000000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044" y="-1"/>
            <a:ext cx="10562156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2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EF">
                <a:alpha val="100000"/>
              </a:srgbClr>
            </a:gs>
            <a:gs pos="100000">
              <a:srgbClr val="94C8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2871" y="3886745"/>
            <a:ext cx="6263729" cy="2513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57"/>
              </a:lnSpc>
              <a:spcBef>
                <a:spcPct val="0"/>
              </a:spcBef>
            </a:pPr>
            <a:r>
              <a:rPr lang="en-US" sz="6969" b="1" dirty="0" smtClean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Sorted Time Table Output</a:t>
            </a:r>
            <a:endParaRPr lang="en-US" sz="6969" b="1" dirty="0">
              <a:solidFill>
                <a:srgbClr val="000000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-38100"/>
            <a:ext cx="10668000" cy="10325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EF">
                <a:alpha val="100000"/>
              </a:srgbClr>
            </a:gs>
            <a:gs pos="100000">
              <a:srgbClr val="94C8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0"/>
            <a:ext cx="8458200" cy="10287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52400" y="1921166"/>
            <a:ext cx="9829800" cy="1164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970" dirty="0">
                <a:latin typeface="Playfair Display Bold" panose="020B0604020202020204" charset="0"/>
              </a:rPr>
              <a:t>Results </a:t>
            </a:r>
            <a:r>
              <a:rPr lang="en-US" sz="6970" dirty="0" smtClean="0">
                <a:latin typeface="Playfair Display Bold" panose="020B0604020202020204" charset="0"/>
              </a:rPr>
              <a:t>and </a:t>
            </a:r>
            <a:r>
              <a:rPr lang="en-US" sz="6970" dirty="0">
                <a:latin typeface="Playfair Display Bold" panose="020B0604020202020204" charset="0"/>
              </a:rPr>
              <a:t>Discussion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2400" y="3695700"/>
            <a:ext cx="8229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correctly detects single and multiple clashes.</a:t>
            </a: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152400" y="4991100"/>
            <a:ext cx="7543800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Symmetric relations confirm mutual course conflicts.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52400" y="6283762"/>
            <a:ext cx="741113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Three-way clashes are identified efficiently.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3684" y="7256502"/>
            <a:ext cx="738856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timetable is sorted and conflict-free.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7055" y="8242637"/>
            <a:ext cx="927174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improved reliability over manual scheduling.</a:t>
            </a:r>
          </a:p>
        </p:txBody>
      </p:sp>
    </p:spTree>
    <p:extLst>
      <p:ext uri="{BB962C8B-B14F-4D97-AF65-F5344CB8AC3E}">
        <p14:creationId xmlns:p14="http://schemas.microsoft.com/office/powerpoint/2010/main" val="113710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5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/>
      <p:bldP spid="19" grpId="0"/>
      <p:bldP spid="20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EF">
                <a:alpha val="100000"/>
              </a:srgbClr>
            </a:gs>
            <a:gs pos="100000">
              <a:srgbClr val="94C8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/>
          <p:cNvSpPr/>
          <p:nvPr/>
        </p:nvSpPr>
        <p:spPr>
          <a:xfrm>
            <a:off x="657708" y="2552700"/>
            <a:ext cx="9906001" cy="7064781"/>
          </a:xfrm>
          <a:prstGeom prst="roundRect">
            <a:avLst>
              <a:gd name="adj" fmla="val 2148"/>
            </a:avLst>
          </a:prstGeom>
          <a:solidFill>
            <a:srgbClr val="587F94"/>
          </a:solidFill>
          <a:ln w="76200">
            <a:solidFill>
              <a:schemeClr val="bg1"/>
            </a:solidFill>
            <a:prstDash val="solid"/>
          </a:ln>
          <a:effectLst>
            <a:glow rad="101600">
              <a:schemeClr val="bg1">
                <a:lumMod val="95000"/>
                <a:alpha val="60000"/>
              </a:schemeClr>
            </a:glow>
            <a:softEdge rad="31750"/>
          </a:effectLst>
        </p:spPr>
      </p:sp>
      <p:sp>
        <p:nvSpPr>
          <p:cNvPr id="15" name="Shape 10"/>
          <p:cNvSpPr/>
          <p:nvPr/>
        </p:nvSpPr>
        <p:spPr>
          <a:xfrm>
            <a:off x="660377" y="6381172"/>
            <a:ext cx="5071355" cy="3206672"/>
          </a:xfrm>
          <a:prstGeom prst="rect">
            <a:avLst/>
          </a:prstGeom>
          <a:solidFill>
            <a:srgbClr val="587F94"/>
          </a:solidFill>
          <a:ln w="76200">
            <a:solidFill>
              <a:schemeClr val="bg1"/>
            </a:solidFill>
          </a:ln>
          <a:effectLst>
            <a:glow rad="101600">
              <a:schemeClr val="bg1">
                <a:lumMod val="95000"/>
                <a:alpha val="60000"/>
              </a:schemeClr>
            </a:glow>
            <a:softEdge rad="31750"/>
          </a:effectLst>
        </p:spPr>
      </p:sp>
      <p:sp>
        <p:nvSpPr>
          <p:cNvPr id="9" name="Shape 5"/>
          <p:cNvSpPr/>
          <p:nvPr/>
        </p:nvSpPr>
        <p:spPr>
          <a:xfrm>
            <a:off x="701063" y="2516926"/>
            <a:ext cx="3375104" cy="3815695"/>
          </a:xfrm>
          <a:prstGeom prst="rect">
            <a:avLst/>
          </a:prstGeom>
          <a:solidFill>
            <a:srgbClr val="587F94"/>
          </a:solidFill>
          <a:ln w="76200">
            <a:solidFill>
              <a:schemeClr val="bg1"/>
            </a:solidFill>
          </a:ln>
          <a:effectLst>
            <a:glow rad="101600">
              <a:schemeClr val="bg1">
                <a:lumMod val="95000"/>
                <a:alpha val="60000"/>
              </a:schemeClr>
            </a:glow>
            <a:softEdge rad="31750"/>
          </a:effectLst>
        </p:spPr>
      </p:sp>
      <p:sp>
        <p:nvSpPr>
          <p:cNvPr id="33" name="Rectangle 32"/>
          <p:cNvSpPr/>
          <p:nvPr/>
        </p:nvSpPr>
        <p:spPr>
          <a:xfrm>
            <a:off x="5731732" y="6362700"/>
            <a:ext cx="4936268" cy="3225144"/>
          </a:xfrm>
          <a:prstGeom prst="rect">
            <a:avLst/>
          </a:prstGeom>
          <a:solidFill>
            <a:srgbClr val="587F94"/>
          </a:solidFill>
          <a:ln w="76200">
            <a:solidFill>
              <a:schemeClr val="bg1"/>
            </a:solidFill>
          </a:ln>
          <a:effectLst>
            <a:glow rad="101600">
              <a:schemeClr val="bg1">
                <a:lumMod val="95000"/>
                <a:alpha val="6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7359143" y="2564382"/>
            <a:ext cx="3271024" cy="3798318"/>
          </a:xfrm>
          <a:prstGeom prst="rect">
            <a:avLst/>
          </a:prstGeom>
          <a:solidFill>
            <a:srgbClr val="587F94"/>
          </a:solidFill>
          <a:ln w="76200">
            <a:solidFill>
              <a:schemeClr val="bg1"/>
            </a:solidFill>
          </a:ln>
          <a:effectLst>
            <a:glow rad="101600">
              <a:schemeClr val="bg1">
                <a:lumMod val="95000"/>
                <a:alpha val="6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4076167" y="2528531"/>
            <a:ext cx="3282976" cy="3834169"/>
          </a:xfrm>
          <a:prstGeom prst="rect">
            <a:avLst/>
          </a:prstGeom>
          <a:solidFill>
            <a:srgbClr val="587F94"/>
          </a:solidFill>
          <a:ln w="76200">
            <a:solidFill>
              <a:schemeClr val="bg1"/>
            </a:solidFill>
          </a:ln>
          <a:effectLst>
            <a:glow rad="101600">
              <a:schemeClr val="bg1">
                <a:lumMod val="95000"/>
                <a:alpha val="6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880694" y="3705489"/>
            <a:ext cx="3113967" cy="461665"/>
          </a:xfrm>
          <a:prstGeom prst="rect">
            <a:avLst/>
          </a:prstGeom>
          <a:effectLst>
            <a:glow rad="101600">
              <a:schemeClr val="bg1">
                <a:lumMod val="95000"/>
                <a:alpha val="6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layfair Display Bold" panose="020B0604020202020204" charset="0"/>
              </a:rPr>
              <a:t>Relation Application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399" y="4184787"/>
            <a:ext cx="2905077" cy="1538883"/>
          </a:xfrm>
          <a:prstGeom prst="rect">
            <a:avLst/>
          </a:prstGeom>
          <a:effectLst>
            <a:glow rad="101600">
              <a:schemeClr val="bg1">
                <a:lumMod val="95000"/>
                <a:alpha val="6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2350" b="1" dirty="0"/>
              <a:t>The project successfully applies relations to timetable scheduling.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47471" y="4209794"/>
            <a:ext cx="3091529" cy="1177245"/>
          </a:xfrm>
          <a:prstGeom prst="rect">
            <a:avLst/>
          </a:prstGeom>
          <a:effectLst>
            <a:glow rad="101600">
              <a:schemeClr val="bg1">
                <a:lumMod val="95000"/>
                <a:alpha val="6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2350" b="1" dirty="0"/>
              <a:t>Automated conflict detection reduces errors and effort.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47057" y="3730496"/>
            <a:ext cx="3244343" cy="461665"/>
          </a:xfrm>
          <a:prstGeom prst="rect">
            <a:avLst/>
          </a:prstGeom>
          <a:effectLst>
            <a:glow rad="101600">
              <a:schemeClr val="bg1">
                <a:lumMod val="95000"/>
                <a:alpha val="6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layfair Display Bold" panose="020B0604020202020204" charset="0"/>
              </a:rPr>
              <a:t>Automated Detection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20000" y="3764341"/>
            <a:ext cx="2876143" cy="471072"/>
          </a:xfrm>
          <a:prstGeom prst="rect">
            <a:avLst/>
          </a:prstGeom>
          <a:effectLst>
            <a:glow rad="101600">
              <a:schemeClr val="bg1">
                <a:lumMod val="95000"/>
                <a:alpha val="6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Playfair Display Bold" panose="020B0604020202020204" charset="0"/>
              </a:rPr>
              <a:t>Efficient Clashes</a:t>
            </a:r>
          </a:p>
        </p:txBody>
      </p:sp>
      <p:sp>
        <p:nvSpPr>
          <p:cNvPr id="42" name="Rectangle 2"/>
          <p:cNvSpPr>
            <a:spLocks noChangeArrowheads="1"/>
          </p:cNvSpPr>
          <p:nvPr/>
        </p:nvSpPr>
        <p:spPr bwMode="auto">
          <a:xfrm>
            <a:off x="7467600" y="4235413"/>
            <a:ext cx="3141694" cy="1114871"/>
          </a:xfrm>
          <a:prstGeom prst="rect">
            <a:avLst/>
          </a:prstGeom>
          <a:noFill/>
          <a:ln>
            <a:noFill/>
          </a:ln>
          <a:effectLst>
            <a:glow rad="101600">
              <a:schemeClr val="bg1">
                <a:lumMod val="95000"/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350" b="1" i="0" u="none" strike="noStrike" cap="none" normalizeH="0" baseline="0" dirty="0" smtClean="0">
                <a:ln>
                  <a:noFill/>
                </a:ln>
                <a:effectLst/>
                <a:cs typeface="Arial" panose="020B0604020202020204" pitchFamily="34" charset="0"/>
              </a:rPr>
              <a:t>Complex clashes are detected efficiently.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56475" y="7224410"/>
            <a:ext cx="4325125" cy="471072"/>
          </a:xfrm>
          <a:prstGeom prst="rect">
            <a:avLst/>
          </a:prstGeom>
          <a:effectLst>
            <a:glow rad="101600">
              <a:schemeClr val="bg1">
                <a:lumMod val="95000"/>
                <a:alpha val="6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Playfair Display Bold" panose="020B0604020202020204" charset="0"/>
              </a:rPr>
              <a:t>Practical Implementation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0599" y="7713115"/>
            <a:ext cx="3987455" cy="832228"/>
          </a:xfrm>
          <a:prstGeom prst="rect">
            <a:avLst/>
          </a:prstGeom>
          <a:effectLst>
            <a:glow rad="101600">
              <a:schemeClr val="bg1">
                <a:lumMod val="95000"/>
                <a:alpha val="6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2350" b="1" dirty="0"/>
              <a:t>Discrete Structures concepts are practically implemented.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04727" y="7715917"/>
            <a:ext cx="3846991" cy="832228"/>
          </a:xfrm>
          <a:prstGeom prst="rect">
            <a:avLst/>
          </a:prstGeom>
          <a:effectLst>
            <a:glow rad="101600">
              <a:schemeClr val="bg1">
                <a:lumMod val="95000"/>
                <a:alpha val="6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2350" b="1" dirty="0"/>
              <a:t>The system achieves all project objectives.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95999" y="7224410"/>
            <a:ext cx="3674432" cy="471072"/>
          </a:xfrm>
          <a:prstGeom prst="rect">
            <a:avLst/>
          </a:prstGeom>
          <a:effectLst>
            <a:glow rad="101600">
              <a:schemeClr val="bg1">
                <a:lumMod val="95000"/>
                <a:alpha val="6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Playfair Display Bold" panose="020B0604020202020204" charset="0"/>
              </a:rPr>
              <a:t>Objectives Achieved</a:t>
            </a: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4902" y="0"/>
            <a:ext cx="6653098" cy="10287000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96219" y="1159166"/>
            <a:ext cx="11028981" cy="1164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970" dirty="0">
                <a:latin typeface="Playfair Display Bold" panose="020B0604020202020204" charset="0"/>
              </a:rPr>
              <a:t>Conclusion and Outcomes​</a:t>
            </a:r>
          </a:p>
        </p:txBody>
      </p:sp>
    </p:spTree>
    <p:extLst>
      <p:ext uri="{BB962C8B-B14F-4D97-AF65-F5344CB8AC3E}">
        <p14:creationId xmlns:p14="http://schemas.microsoft.com/office/powerpoint/2010/main" val="90791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/>
      <p:bldP spid="37" grpId="0"/>
      <p:bldP spid="38" grpId="0"/>
      <p:bldP spid="39" grpId="0"/>
      <p:bldP spid="40" grpId="0"/>
      <p:bldP spid="42" grpId="0"/>
      <p:bldP spid="43" grpId="0"/>
      <p:bldP spid="44" grpId="0"/>
      <p:bldP spid="45" grpId="0"/>
      <p:bldP spid="46" grpId="0"/>
      <p:bldP spid="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EF">
                <a:alpha val="100000"/>
              </a:srgbClr>
            </a:gs>
            <a:gs pos="100000">
              <a:srgbClr val="94C8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02942" y="4685498"/>
            <a:ext cx="6224217" cy="4581325"/>
          </a:xfrm>
          <a:custGeom>
            <a:avLst/>
            <a:gdLst/>
            <a:ahLst/>
            <a:cxnLst/>
            <a:rect l="l" t="t" r="r" b="b"/>
            <a:pathLst>
              <a:path w="6224217" h="4581325">
                <a:moveTo>
                  <a:pt x="0" y="0"/>
                </a:moveTo>
                <a:lnTo>
                  <a:pt x="6224217" y="0"/>
                </a:lnTo>
                <a:lnTo>
                  <a:pt x="6224217" y="4581324"/>
                </a:lnTo>
                <a:lnTo>
                  <a:pt x="0" y="4581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992" b="-8049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5902942" y="4654121"/>
            <a:ext cx="6224217" cy="4644078"/>
          </a:xfrm>
          <a:custGeom>
            <a:avLst/>
            <a:gdLst/>
            <a:ahLst/>
            <a:cxnLst/>
            <a:rect l="l" t="t" r="r" b="b"/>
            <a:pathLst>
              <a:path w="6224217" h="4644078">
                <a:moveTo>
                  <a:pt x="6224217" y="0"/>
                </a:moveTo>
                <a:lnTo>
                  <a:pt x="0" y="0"/>
                </a:lnTo>
                <a:lnTo>
                  <a:pt x="0" y="4644078"/>
                </a:lnTo>
                <a:lnTo>
                  <a:pt x="6224217" y="4644078"/>
                </a:lnTo>
                <a:lnTo>
                  <a:pt x="6224217" y="0"/>
                </a:lnTo>
                <a:close/>
              </a:path>
            </a:pathLst>
          </a:custGeom>
          <a:blipFill>
            <a:blip r:embed="rId3"/>
            <a:stretch>
              <a:fillRect l="-82" t="-27036" b="-7098"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5902942" y="3782851"/>
            <a:ext cx="6224217" cy="4644078"/>
          </a:xfrm>
          <a:custGeom>
            <a:avLst/>
            <a:gdLst/>
            <a:ahLst/>
            <a:cxnLst/>
            <a:rect l="l" t="t" r="r" b="b"/>
            <a:pathLst>
              <a:path w="6224217" h="4644078">
                <a:moveTo>
                  <a:pt x="6224217" y="4644078"/>
                </a:moveTo>
                <a:lnTo>
                  <a:pt x="0" y="4644078"/>
                </a:lnTo>
                <a:lnTo>
                  <a:pt x="0" y="0"/>
                </a:lnTo>
                <a:lnTo>
                  <a:pt x="6224217" y="0"/>
                </a:lnTo>
                <a:lnTo>
                  <a:pt x="6224217" y="4644078"/>
                </a:lnTo>
                <a:close/>
              </a:path>
            </a:pathLst>
          </a:custGeom>
          <a:blipFill>
            <a:blip r:embed="rId3"/>
            <a:stretch>
              <a:fillRect l="-82" t="-27036" b="-7098"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5902942" y="3808162"/>
            <a:ext cx="6224217" cy="4644078"/>
          </a:xfrm>
          <a:custGeom>
            <a:avLst/>
            <a:gdLst/>
            <a:ahLst/>
            <a:cxnLst/>
            <a:rect l="l" t="t" r="r" b="b"/>
            <a:pathLst>
              <a:path w="6224217" h="4644078">
                <a:moveTo>
                  <a:pt x="0" y="4644078"/>
                </a:moveTo>
                <a:lnTo>
                  <a:pt x="6224217" y="4644078"/>
                </a:lnTo>
                <a:lnTo>
                  <a:pt x="6224217" y="0"/>
                </a:lnTo>
                <a:lnTo>
                  <a:pt x="0" y="0"/>
                </a:lnTo>
                <a:lnTo>
                  <a:pt x="0" y="4644078"/>
                </a:lnTo>
                <a:close/>
              </a:path>
            </a:pathLst>
          </a:custGeom>
          <a:blipFill>
            <a:blip r:embed="rId3"/>
            <a:stretch>
              <a:fillRect l="-82" t="-27036" b="-709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944976" y="4914098"/>
            <a:ext cx="715994" cy="894993"/>
          </a:xfrm>
          <a:custGeom>
            <a:avLst/>
            <a:gdLst/>
            <a:ahLst/>
            <a:cxnLst/>
            <a:rect l="l" t="t" r="r" b="b"/>
            <a:pathLst>
              <a:path w="715994" h="894993">
                <a:moveTo>
                  <a:pt x="0" y="0"/>
                </a:moveTo>
                <a:lnTo>
                  <a:pt x="715994" y="0"/>
                </a:lnTo>
                <a:lnTo>
                  <a:pt x="715994" y="894993"/>
                </a:lnTo>
                <a:lnTo>
                  <a:pt x="0" y="8949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350876" y="4914098"/>
            <a:ext cx="1008089" cy="894993"/>
          </a:xfrm>
          <a:custGeom>
            <a:avLst/>
            <a:gdLst/>
            <a:ahLst/>
            <a:cxnLst/>
            <a:rect l="l" t="t" r="r" b="b"/>
            <a:pathLst>
              <a:path w="1008089" h="894993">
                <a:moveTo>
                  <a:pt x="0" y="0"/>
                </a:moveTo>
                <a:lnTo>
                  <a:pt x="1008089" y="0"/>
                </a:lnTo>
                <a:lnTo>
                  <a:pt x="1008089" y="894993"/>
                </a:lnTo>
                <a:lnTo>
                  <a:pt x="0" y="8949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241239" y="7276298"/>
            <a:ext cx="1227362" cy="1124005"/>
          </a:xfrm>
          <a:custGeom>
            <a:avLst/>
            <a:gdLst/>
            <a:ahLst/>
            <a:cxnLst/>
            <a:rect l="l" t="t" r="r" b="b"/>
            <a:pathLst>
              <a:path w="1227362" h="1124005">
                <a:moveTo>
                  <a:pt x="0" y="0"/>
                </a:moveTo>
                <a:lnTo>
                  <a:pt x="1227362" y="0"/>
                </a:lnTo>
                <a:lnTo>
                  <a:pt x="1227362" y="1124005"/>
                </a:lnTo>
                <a:lnTo>
                  <a:pt x="0" y="11240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847030" y="7282648"/>
            <a:ext cx="901700" cy="901700"/>
          </a:xfrm>
          <a:custGeom>
            <a:avLst/>
            <a:gdLst/>
            <a:ahLst/>
            <a:cxnLst/>
            <a:rect l="l" t="t" r="r" b="b"/>
            <a:pathLst>
              <a:path w="901700" h="901700">
                <a:moveTo>
                  <a:pt x="0" y="0"/>
                </a:moveTo>
                <a:lnTo>
                  <a:pt x="901700" y="0"/>
                </a:lnTo>
                <a:lnTo>
                  <a:pt x="901700" y="901700"/>
                </a:lnTo>
                <a:lnTo>
                  <a:pt x="0" y="901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99750" y="703311"/>
            <a:ext cx="16230600" cy="226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Why This Matters: 4 Real-World Applications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21622" y="2836806"/>
            <a:ext cx="12186855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same underlying relational logic can be applied across diverse scheduling challenges.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04103" y="4599773"/>
            <a:ext cx="2426297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 Planning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70047" y="4599773"/>
            <a:ext cx="36328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Scheduling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27159" y="7190573"/>
            <a:ext cx="363289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Hospital Staff Shifts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57401" y="7419173"/>
            <a:ext cx="391688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Meeting Room Booking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83202" y="9380197"/>
            <a:ext cx="7463696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relation R logic, different real-world objects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EF">
                <a:alpha val="100000"/>
              </a:srgbClr>
            </a:gs>
            <a:gs pos="100000">
              <a:srgbClr val="94C8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2590800" y="4000500"/>
            <a:ext cx="15240000" cy="116493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6970" dirty="0">
                <a:solidFill>
                  <a:srgbClr val="0C2339"/>
                </a:solidFill>
                <a:latin typeface="Playfair Display Bold" panose="020B0604020202020204" charset="0"/>
              </a:rPr>
              <a:t>Future Work and </a:t>
            </a:r>
            <a:r>
              <a:rPr lang="en-US" sz="6970" dirty="0" smtClean="0">
                <a:solidFill>
                  <a:srgbClr val="0C2339"/>
                </a:solidFill>
                <a:latin typeface="Playfair Display Bold" panose="020B0604020202020204" charset="0"/>
              </a:rPr>
              <a:t>Enhancements</a:t>
            </a:r>
            <a:endParaRPr lang="en-US" sz="6970" dirty="0">
              <a:solidFill>
                <a:srgbClr val="0C2339"/>
              </a:solidFill>
              <a:latin typeface="Playfair Display Bold" panose="020B060402020202020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74270" y="5680913"/>
            <a:ext cx="9020418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Inclusion of classroom and faculty constraints.</a:t>
            </a: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74270" y="6539383"/>
            <a:ext cx="7348487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visualization of clashes.</a:t>
            </a: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74270" y="7384812"/>
            <a:ext cx="8783174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web or mobile application.</a:t>
            </a: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74270" y="8196585"/>
            <a:ext cx="6354625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optimization techniques.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4270" y="9008358"/>
            <a:ext cx="7814960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full university systems.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73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8" grpId="0"/>
      <p:bldP spid="29" grpId="0"/>
      <p:bldP spid="30" grpId="0"/>
      <p:bldP spid="32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EF">
                <a:alpha val="100000"/>
              </a:srgbClr>
            </a:gs>
            <a:gs pos="100000">
              <a:srgbClr val="94C8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304800" y="2302166"/>
            <a:ext cx="9829800" cy="1164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970" dirty="0" smtClean="0">
                <a:latin typeface="Playfair Display Bold" panose="020B0604020202020204" charset="0"/>
              </a:rPr>
              <a:t>References</a:t>
            </a:r>
            <a:endParaRPr lang="en-US" sz="6970" dirty="0">
              <a:latin typeface="Playfair Display Bold" panose="020B06040202020202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" y="3875725"/>
            <a:ext cx="9220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Rosen, K. H., Discrete Mathematics and Its Applications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304800" y="5423237"/>
            <a:ext cx="85344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notes on Sets, Relations, and Functions </a:t>
            </a:r>
            <a:endParaRPr kumimoji="0" lang="en-US" altLang="en-US" sz="3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2102" y="6566237"/>
            <a:ext cx="577991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Basic timetable examples online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486" y="-32084"/>
            <a:ext cx="8523514" cy="1032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66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EF">
                <a:alpha val="100000"/>
              </a:srgbClr>
            </a:gs>
            <a:gs pos="100000">
              <a:srgbClr val="94C8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19600" y="3543300"/>
            <a:ext cx="9374255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1039"/>
              </a:lnSpc>
            </a:pPr>
            <a:r>
              <a:rPr lang="en-US" sz="9599" b="1" spc="-95" dirty="0" smtClean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Thank You For Your Attention!</a:t>
            </a:r>
            <a:endParaRPr lang="en-US" sz="9599" b="1" spc="-95" dirty="0">
              <a:solidFill>
                <a:srgbClr val="000000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548728" y="6364585"/>
            <a:ext cx="5115998" cy="46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3"/>
              </a:lnSpc>
            </a:pPr>
            <a:r>
              <a:rPr lang="en-US" sz="2799" b="1" dirty="0" smtClean="0">
                <a:solidFill>
                  <a:srgbClr val="24677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2799" b="1" dirty="0">
                <a:solidFill>
                  <a:srgbClr val="24677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Have a great day ahead.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1660</TotalTime>
  <Words>665</Words>
  <Application>Microsoft Office PowerPoint</Application>
  <PresentationFormat>Custom</PresentationFormat>
  <Paragraphs>111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Times New Roman</vt:lpstr>
      <vt:lpstr>Times New Roman Bold</vt:lpstr>
      <vt:lpstr>Roboto</vt:lpstr>
      <vt:lpstr>Arial</vt:lpstr>
      <vt:lpstr>Montserrat Bold</vt:lpstr>
      <vt:lpstr>Telegraf Ultra-Bold</vt:lpstr>
      <vt:lpstr>Calibri Light</vt:lpstr>
      <vt:lpstr>Playfair Display Bold</vt:lpstr>
      <vt:lpstr>Calibri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 Blue Retro Theme Illustrations Corporate Brainstorm Presentation</dc:title>
  <dc:creator>Manal Amir</dc:creator>
  <cp:lastModifiedBy>Manal Amir</cp:lastModifiedBy>
  <cp:revision>66</cp:revision>
  <dcterms:created xsi:type="dcterms:W3CDTF">2006-08-16T00:00:00Z</dcterms:created>
  <dcterms:modified xsi:type="dcterms:W3CDTF">2026-01-12T09:04:05Z</dcterms:modified>
  <dc:identifier>DAG-D9zbpGE</dc:identifier>
</cp:coreProperties>
</file>